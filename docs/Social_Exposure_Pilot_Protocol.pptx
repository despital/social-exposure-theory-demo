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5_0.xml" ContentType="application/vnd.ms-powerpoint.comments+xml"/>
  <Override PartName="/ppt/comments/modernComment_107_0.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29"/>
  </p:notesMasterIdLst>
  <p:sldIdLst>
    <p:sldId id="271" r:id="rId6"/>
    <p:sldId id="278" r:id="rId7"/>
    <p:sldId id="279" r:id="rId8"/>
    <p:sldId id="257" r:id="rId9"/>
    <p:sldId id="272" r:id="rId10"/>
    <p:sldId id="260" r:id="rId11"/>
    <p:sldId id="261" r:id="rId12"/>
    <p:sldId id="259" r:id="rId13"/>
    <p:sldId id="277" r:id="rId14"/>
    <p:sldId id="258" r:id="rId15"/>
    <p:sldId id="262" r:id="rId16"/>
    <p:sldId id="263" r:id="rId17"/>
    <p:sldId id="264" r:id="rId18"/>
    <p:sldId id="265" r:id="rId19"/>
    <p:sldId id="266" r:id="rId20"/>
    <p:sldId id="267" r:id="rId21"/>
    <p:sldId id="268" r:id="rId22"/>
    <p:sldId id="269" r:id="rId23"/>
    <p:sldId id="270" r:id="rId24"/>
    <p:sldId id="276" r:id="rId25"/>
    <p:sldId id="274" r:id="rId26"/>
    <p:sldId id="281" r:id="rId27"/>
    <p:sldId id="282" r:id="rId2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3E66C8-C11A-A87D-3915-33A33F9B1932}" name="Yikai Tang" initials="YT" userId="S::yikai.tang@mail.utoronto.ca::d308630c-ee1c-4148-ba94-b599eabba4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56649-FA26-467C-9B4F-EE35A1371AE7}" v="3618" dt="2026-03-03T18:08:35.1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544"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Selective exposure</c:v>
                </c:pt>
              </c:strCache>
            </c:strRef>
          </c:tx>
          <c:spPr>
            <a:solidFill>
              <a:schemeClr val="accent1"/>
            </a:solidFill>
            <a:ln>
              <a:noFill/>
            </a:ln>
            <a:effectLst/>
          </c:spPr>
          <c:invertIfNegative val="0"/>
          <c:cat>
            <c:strRef>
              <c:f>Sheet1!$A$2:$A$3</c:f>
              <c:strCache>
                <c:ptCount val="2"/>
                <c:pt idx="0">
                  <c:v>Unequal proportion</c:v>
                </c:pt>
                <c:pt idx="1">
                  <c:v>Equal proportion</c:v>
                </c:pt>
              </c:strCache>
            </c:strRef>
          </c:cat>
          <c:val>
            <c:numRef>
              <c:f>Sheet1!$B$2:$B$3</c:f>
              <c:numCache>
                <c:formatCode>General</c:formatCode>
                <c:ptCount val="2"/>
                <c:pt idx="0">
                  <c:v>3.5</c:v>
                </c:pt>
                <c:pt idx="1">
                  <c:v>2.5</c:v>
                </c:pt>
              </c:numCache>
            </c:numRef>
          </c:val>
          <c:extLst>
            <c:ext xmlns:c16="http://schemas.microsoft.com/office/drawing/2014/chart" uri="{C3380CC4-5D6E-409C-BE32-E72D297353CC}">
              <c16:uniqueId val="{00000000-3AA9-41C0-9CE3-9A3A5BF347E6}"/>
            </c:ext>
          </c:extLst>
        </c:ser>
        <c:ser>
          <c:idx val="1"/>
          <c:order val="1"/>
          <c:tx>
            <c:strRef>
              <c:f>Sheet1!$C$1</c:f>
              <c:strCache>
                <c:ptCount val="1"/>
                <c:pt idx="0">
                  <c:v>Full exposure</c:v>
                </c:pt>
              </c:strCache>
            </c:strRef>
          </c:tx>
          <c:spPr>
            <a:solidFill>
              <a:schemeClr val="accent2"/>
            </a:solidFill>
            <a:ln>
              <a:noFill/>
            </a:ln>
            <a:effectLst/>
          </c:spPr>
          <c:invertIfNegative val="0"/>
          <c:cat>
            <c:strRef>
              <c:f>Sheet1!$A$2:$A$3</c:f>
              <c:strCache>
                <c:ptCount val="2"/>
                <c:pt idx="0">
                  <c:v>Unequal proportion</c:v>
                </c:pt>
                <c:pt idx="1">
                  <c:v>Equal proportion</c:v>
                </c:pt>
              </c:strCache>
            </c:strRef>
          </c:cat>
          <c:val>
            <c:numRef>
              <c:f>Sheet1!$C$2:$C$3</c:f>
              <c:numCache>
                <c:formatCode>General</c:formatCode>
                <c:ptCount val="2"/>
                <c:pt idx="0">
                  <c:v>2.5</c:v>
                </c:pt>
                <c:pt idx="1">
                  <c:v>2.5</c:v>
                </c:pt>
              </c:numCache>
            </c:numRef>
          </c:val>
          <c:extLst>
            <c:ext xmlns:c16="http://schemas.microsoft.com/office/drawing/2014/chart" uri="{C3380CC4-5D6E-409C-BE32-E72D297353CC}">
              <c16:uniqueId val="{00000001-3AA9-41C0-9CE3-9A3A5BF347E6}"/>
            </c:ext>
          </c:extLst>
        </c:ser>
        <c:dLbls>
          <c:showLegendKey val="0"/>
          <c:showVal val="0"/>
          <c:showCatName val="0"/>
          <c:showSerName val="0"/>
          <c:showPercent val="0"/>
          <c:showBubbleSize val="0"/>
        </c:dLbls>
        <c:gapWidth val="219"/>
        <c:overlap val="-27"/>
        <c:axId val="40382735"/>
        <c:axId val="40384175"/>
      </c:barChart>
      <c:catAx>
        <c:axId val="40382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40384175"/>
        <c:crosses val="autoZero"/>
        <c:auto val="1"/>
        <c:lblAlgn val="ctr"/>
        <c:lblOffset val="100"/>
        <c:noMultiLvlLbl val="0"/>
      </c:catAx>
      <c:valAx>
        <c:axId val="403841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one"/>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3827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Selective exposure</c:v>
                </c:pt>
              </c:strCache>
            </c:strRef>
          </c:tx>
          <c:spPr>
            <a:solidFill>
              <a:schemeClr val="accent1"/>
            </a:solidFill>
            <a:ln>
              <a:noFill/>
            </a:ln>
            <a:effectLst/>
          </c:spPr>
          <c:invertIfNegative val="0"/>
          <c:cat>
            <c:strRef>
              <c:f>Sheet1!$A$2:$A$3</c:f>
              <c:strCache>
                <c:ptCount val="2"/>
                <c:pt idx="0">
                  <c:v>Unequal proportion</c:v>
                </c:pt>
                <c:pt idx="1">
                  <c:v>Equal proportion</c:v>
                </c:pt>
              </c:strCache>
            </c:strRef>
          </c:cat>
          <c:val>
            <c:numRef>
              <c:f>Sheet1!$B$2:$B$3</c:f>
              <c:numCache>
                <c:formatCode>General</c:formatCode>
                <c:ptCount val="2"/>
                <c:pt idx="0">
                  <c:v>3.5</c:v>
                </c:pt>
                <c:pt idx="1">
                  <c:v>2.5</c:v>
                </c:pt>
              </c:numCache>
            </c:numRef>
          </c:val>
          <c:extLst>
            <c:ext xmlns:c16="http://schemas.microsoft.com/office/drawing/2014/chart" uri="{C3380CC4-5D6E-409C-BE32-E72D297353CC}">
              <c16:uniqueId val="{00000000-3AA9-41C0-9CE3-9A3A5BF347E6}"/>
            </c:ext>
          </c:extLst>
        </c:ser>
        <c:ser>
          <c:idx val="1"/>
          <c:order val="1"/>
          <c:tx>
            <c:strRef>
              <c:f>Sheet1!$C$1</c:f>
              <c:strCache>
                <c:ptCount val="1"/>
                <c:pt idx="0">
                  <c:v>Full exposure</c:v>
                </c:pt>
              </c:strCache>
            </c:strRef>
          </c:tx>
          <c:spPr>
            <a:solidFill>
              <a:schemeClr val="accent2"/>
            </a:solidFill>
            <a:ln>
              <a:noFill/>
            </a:ln>
            <a:effectLst/>
          </c:spPr>
          <c:invertIfNegative val="0"/>
          <c:cat>
            <c:strRef>
              <c:f>Sheet1!$A$2:$A$3</c:f>
              <c:strCache>
                <c:ptCount val="2"/>
                <c:pt idx="0">
                  <c:v>Unequal proportion</c:v>
                </c:pt>
                <c:pt idx="1">
                  <c:v>Equal proportion</c:v>
                </c:pt>
              </c:strCache>
            </c:strRef>
          </c:cat>
          <c:val>
            <c:numRef>
              <c:f>Sheet1!$C$2:$C$3</c:f>
              <c:numCache>
                <c:formatCode>General</c:formatCode>
                <c:ptCount val="2"/>
                <c:pt idx="0">
                  <c:v>2.5</c:v>
                </c:pt>
                <c:pt idx="1">
                  <c:v>2.5</c:v>
                </c:pt>
              </c:numCache>
            </c:numRef>
          </c:val>
          <c:extLst>
            <c:ext xmlns:c16="http://schemas.microsoft.com/office/drawing/2014/chart" uri="{C3380CC4-5D6E-409C-BE32-E72D297353CC}">
              <c16:uniqueId val="{00000001-3AA9-41C0-9CE3-9A3A5BF347E6}"/>
            </c:ext>
          </c:extLst>
        </c:ser>
        <c:dLbls>
          <c:showLegendKey val="0"/>
          <c:showVal val="0"/>
          <c:showCatName val="0"/>
          <c:showSerName val="0"/>
          <c:showPercent val="0"/>
          <c:showBubbleSize val="0"/>
        </c:dLbls>
        <c:gapWidth val="219"/>
        <c:overlap val="-27"/>
        <c:axId val="40382735"/>
        <c:axId val="40384175"/>
      </c:barChart>
      <c:catAx>
        <c:axId val="40382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40384175"/>
        <c:crosses val="autoZero"/>
        <c:auto val="1"/>
        <c:lblAlgn val="ctr"/>
        <c:lblOffset val="100"/>
        <c:noMultiLvlLbl val="0"/>
      </c:catAx>
      <c:valAx>
        <c:axId val="403841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one"/>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3827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5_0.xml><?xml version="1.0" encoding="utf-8"?>
<p188:cmLst xmlns:a="http://schemas.openxmlformats.org/drawingml/2006/main" xmlns:r="http://schemas.openxmlformats.org/officeDocument/2006/relationships" xmlns:p188="http://schemas.microsoft.com/office/powerpoint/2018/8/main">
  <p188:cm id="{C90A29AA-3B00-4C9A-BCD6-738B8AF4544D}" authorId="{D43E66C8-C11A-A87D-3915-33A33F9B1932}" created="2026-03-03T17:25:39.077">
    <pc:sldMkLst xmlns:pc="http://schemas.microsoft.com/office/powerpoint/2013/main/command">
      <pc:docMk/>
      <pc:sldMk cId="0" sldId="261"/>
    </pc:sldMkLst>
    <p188:txBody>
      <a:bodyPr/>
      <a:lstStyle/>
      <a:p>
        <a:r>
          <a:rPr lang="en-CA"/>
          <a:t>Add task parameters</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E51B4641-56FA-4205-B8BA-8F3FA95C39F1}" authorId="{D43E66C8-C11A-A87D-3915-33A33F9B1932}" created="2026-03-03T17:35:00.979">
    <pc:sldMkLst xmlns:pc="http://schemas.microsoft.com/office/powerpoint/2013/main/command">
      <pc:docMk/>
      <pc:sldMk cId="0" sldId="263"/>
    </pc:sldMkLst>
    <p188:txBody>
      <a:bodyPr/>
      <a:lstStyle/>
      <a:p>
        <a:r>
          <a:rPr lang="en-CA"/>
          <a:t>Need to add punishment probability rating, and confidence rating (to both demo and main)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1F0CCF-5C1B-43C0-BBAD-F58E92B5025B}" type="datetimeFigureOut">
              <a:rPr lang="en-CA" smtClean="0"/>
              <a:t>2026-05-12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586236-517D-49E4-A294-8277657E9DB4}" type="slidenum">
              <a:rPr lang="en-CA" smtClean="0"/>
              <a:t>‹#›</a:t>
            </a:fld>
            <a:endParaRPr lang="en-CA"/>
          </a:p>
        </p:txBody>
      </p:sp>
    </p:spTree>
    <p:extLst>
      <p:ext uri="{BB962C8B-B14F-4D97-AF65-F5344CB8AC3E}">
        <p14:creationId xmlns:p14="http://schemas.microsoft.com/office/powerpoint/2010/main" val="3121130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1"/>
              <a:t> (optional) When people form a group-level belief, which individual-level information do they rely on?</a:t>
            </a:r>
            <a:endParaRPr lang="en-CA"/>
          </a:p>
          <a:p>
            <a:endParaRPr lang="en-CA"/>
          </a:p>
        </p:txBody>
      </p:sp>
      <p:sp>
        <p:nvSpPr>
          <p:cNvPr id="4" name="Slide Number Placeholder 3"/>
          <p:cNvSpPr>
            <a:spLocks noGrp="1"/>
          </p:cNvSpPr>
          <p:nvPr>
            <p:ph type="sldNum" sz="quarter" idx="5"/>
          </p:nvPr>
        </p:nvSpPr>
        <p:spPr/>
        <p:txBody>
          <a:bodyPr/>
          <a:lstStyle/>
          <a:p>
            <a:fld id="{9D586236-517D-49E4-A294-8277657E9DB4}" type="slidenum">
              <a:rPr lang="en-CA" smtClean="0"/>
              <a:t>2</a:t>
            </a:fld>
            <a:endParaRPr lang="en-CA"/>
          </a:p>
        </p:txBody>
      </p:sp>
    </p:spTree>
    <p:extLst>
      <p:ext uri="{BB962C8B-B14F-4D97-AF65-F5344CB8AC3E}">
        <p14:creationId xmlns:p14="http://schemas.microsoft.com/office/powerpoint/2010/main" val="2133079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3C8F3-BAD2-0784-F9F0-3474CF0765B2}"/>
              </a:ext>
            </a:extLst>
          </p:cNvPr>
          <p:cNvSpPr>
            <a:spLocks noGrp="1"/>
          </p:cNvSpPr>
          <p:nvPr>
            <p:ph type="ctrTitle"/>
          </p:nvPr>
        </p:nvSpPr>
        <p:spPr>
          <a:xfrm>
            <a:off x="2032000" y="1496484"/>
            <a:ext cx="12192000" cy="3183467"/>
          </a:xfrm>
        </p:spPr>
        <p:txBody>
          <a:bodyPr anchor="b"/>
          <a:lstStyle>
            <a:lvl1pPr algn="ctr">
              <a:defRPr sz="8000"/>
            </a:lvl1pPr>
          </a:lstStyle>
          <a:p>
            <a:r>
              <a:rPr lang="en-US"/>
              <a:t>Click to edit Master title style</a:t>
            </a:r>
            <a:endParaRPr lang="en-CA"/>
          </a:p>
        </p:txBody>
      </p:sp>
      <p:sp>
        <p:nvSpPr>
          <p:cNvPr id="3" name="Subtitle 2">
            <a:extLst>
              <a:ext uri="{FF2B5EF4-FFF2-40B4-BE49-F238E27FC236}">
                <a16:creationId xmlns:a16="http://schemas.microsoft.com/office/drawing/2014/main" id="{4B66213D-912D-2F0C-6ED2-E5804F17EA4D}"/>
              </a:ext>
            </a:extLst>
          </p:cNvPr>
          <p:cNvSpPr>
            <a:spLocks noGrp="1"/>
          </p:cNvSpPr>
          <p:nvPr>
            <p:ph type="subTitle" idx="1"/>
          </p:nvPr>
        </p:nvSpPr>
        <p:spPr>
          <a:xfrm>
            <a:off x="2032000" y="4802717"/>
            <a:ext cx="12192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E9F1DB6-25D2-5951-3CE8-51AB8B12BAD6}"/>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5" name="Footer Placeholder 4">
            <a:extLst>
              <a:ext uri="{FF2B5EF4-FFF2-40B4-BE49-F238E27FC236}">
                <a16:creationId xmlns:a16="http://schemas.microsoft.com/office/drawing/2014/main" id="{C9AB41F6-8818-73A2-B262-323F0E6F9BB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472E908-CE87-52AE-C3EF-81BD8262A9F7}"/>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3940253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040C6-E529-42B7-3BCD-20FB6B1CEAD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A716BB0-99C7-4EBD-D358-69A190374C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76CA810-39E8-BE93-CABE-178AA34F1E62}"/>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5" name="Footer Placeholder 4">
            <a:extLst>
              <a:ext uri="{FF2B5EF4-FFF2-40B4-BE49-F238E27FC236}">
                <a16:creationId xmlns:a16="http://schemas.microsoft.com/office/drawing/2014/main" id="{C97E17CF-4AFA-2391-E8A4-FF379502BEE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C95B992-AD68-E2DC-0A0D-D308D059484D}"/>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3844986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4CF8A-255D-C2BA-7435-BA2641B69033}"/>
              </a:ext>
            </a:extLst>
          </p:cNvPr>
          <p:cNvSpPr>
            <a:spLocks noGrp="1"/>
          </p:cNvSpPr>
          <p:nvPr>
            <p:ph type="title"/>
          </p:nvPr>
        </p:nvSpPr>
        <p:spPr>
          <a:xfrm>
            <a:off x="1109133" y="2279652"/>
            <a:ext cx="14020800" cy="3803649"/>
          </a:xfrm>
        </p:spPr>
        <p:txBody>
          <a:bodyPr anchor="b"/>
          <a:lstStyle>
            <a:lvl1pPr>
              <a:defRPr sz="8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54C1CE02-2524-6BE0-1EFE-6D4E7177F6A5}"/>
              </a:ext>
            </a:extLst>
          </p:cNvPr>
          <p:cNvSpPr>
            <a:spLocks noGrp="1"/>
          </p:cNvSpPr>
          <p:nvPr>
            <p:ph type="body" idx="1"/>
          </p:nvPr>
        </p:nvSpPr>
        <p:spPr>
          <a:xfrm>
            <a:off x="1109133" y="6119285"/>
            <a:ext cx="14020800" cy="2000249"/>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91928B-A3D3-ED8A-025C-822D3785A117}"/>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5" name="Footer Placeholder 4">
            <a:extLst>
              <a:ext uri="{FF2B5EF4-FFF2-40B4-BE49-F238E27FC236}">
                <a16:creationId xmlns:a16="http://schemas.microsoft.com/office/drawing/2014/main" id="{45F18A6C-CA32-217B-844C-9F05FD5ECE4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791F3ED-8C9D-EDAC-A460-ADF11033D474}"/>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3865331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7091B-F2D1-B42F-3B85-BA219D0E85D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C929EF1-5C27-7B0D-6CA7-5BC5C02BB53B}"/>
              </a:ext>
            </a:extLst>
          </p:cNvPr>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0EEB578-2F8F-0C81-D65C-5EA5604B59C0}"/>
              </a:ext>
            </a:extLst>
          </p:cNvPr>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CD2190C9-1592-6F2F-DAD9-A50AB5FFA1E0}"/>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6" name="Footer Placeholder 5">
            <a:extLst>
              <a:ext uri="{FF2B5EF4-FFF2-40B4-BE49-F238E27FC236}">
                <a16:creationId xmlns:a16="http://schemas.microsoft.com/office/drawing/2014/main" id="{AA6FBD46-E798-73CE-1C37-5421829D28E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1FA9282-B403-AC79-BC20-41B0C1FCE660}"/>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2417566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1CCF-16C1-2560-97AE-4E4D8D8844FA}"/>
              </a:ext>
            </a:extLst>
          </p:cNvPr>
          <p:cNvSpPr>
            <a:spLocks noGrp="1"/>
          </p:cNvSpPr>
          <p:nvPr>
            <p:ph type="title"/>
          </p:nvPr>
        </p:nvSpPr>
        <p:spPr>
          <a:xfrm>
            <a:off x="1119717" y="486834"/>
            <a:ext cx="14020800" cy="1767417"/>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4697C57-BD61-A7EF-889F-DF2EC6313DF4}"/>
              </a:ext>
            </a:extLst>
          </p:cNvPr>
          <p:cNvSpPr>
            <a:spLocks noGrp="1"/>
          </p:cNvSpPr>
          <p:nvPr>
            <p:ph type="body" idx="1"/>
          </p:nvPr>
        </p:nvSpPr>
        <p:spPr>
          <a:xfrm>
            <a:off x="1119718" y="2241551"/>
            <a:ext cx="6877049"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a:extLst>
              <a:ext uri="{FF2B5EF4-FFF2-40B4-BE49-F238E27FC236}">
                <a16:creationId xmlns:a16="http://schemas.microsoft.com/office/drawing/2014/main" id="{33C99BBF-80BF-DFDE-A89F-671F6E08B74C}"/>
              </a:ext>
            </a:extLst>
          </p:cNvPr>
          <p:cNvSpPr>
            <a:spLocks noGrp="1"/>
          </p:cNvSpPr>
          <p:nvPr>
            <p:ph sz="half" idx="2"/>
          </p:nvPr>
        </p:nvSpPr>
        <p:spPr>
          <a:xfrm>
            <a:off x="1119718"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4AFD262F-B090-780F-BC22-2A665C4E4F8E}"/>
              </a:ext>
            </a:extLst>
          </p:cNvPr>
          <p:cNvSpPr>
            <a:spLocks noGrp="1"/>
          </p:cNvSpPr>
          <p:nvPr>
            <p:ph type="body" sz="quarter" idx="3"/>
          </p:nvPr>
        </p:nvSpPr>
        <p:spPr>
          <a:xfrm>
            <a:off x="8229600" y="2241551"/>
            <a:ext cx="691091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a:extLst>
              <a:ext uri="{FF2B5EF4-FFF2-40B4-BE49-F238E27FC236}">
                <a16:creationId xmlns:a16="http://schemas.microsoft.com/office/drawing/2014/main" id="{FC4B3A92-668B-7F35-8951-8C54A6524A74}"/>
              </a:ext>
            </a:extLst>
          </p:cNvPr>
          <p:cNvSpPr>
            <a:spLocks noGrp="1"/>
          </p:cNvSpPr>
          <p:nvPr>
            <p:ph sz="quarter" idx="4"/>
          </p:nvPr>
        </p:nvSpPr>
        <p:spPr>
          <a:xfrm>
            <a:off x="8229600"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4E77148-22A4-B4C3-E141-1209766489F0}"/>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8" name="Footer Placeholder 7">
            <a:extLst>
              <a:ext uri="{FF2B5EF4-FFF2-40B4-BE49-F238E27FC236}">
                <a16:creationId xmlns:a16="http://schemas.microsoft.com/office/drawing/2014/main" id="{56FDE1BE-2F33-54C6-8752-B9B6A1ED931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A59B647-751A-BC40-FB8B-5DE8D0D77468}"/>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5673550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63130-1833-C298-9296-CE8752AB643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D30FC73-AD36-7FA3-E402-F709D0890A16}"/>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4" name="Footer Placeholder 3">
            <a:extLst>
              <a:ext uri="{FF2B5EF4-FFF2-40B4-BE49-F238E27FC236}">
                <a16:creationId xmlns:a16="http://schemas.microsoft.com/office/drawing/2014/main" id="{236E51C4-6FF0-B862-C09A-3FAE17D2F99B}"/>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313B90FB-CD25-7F65-2CD7-53C585713908}"/>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30057901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85A269-2E17-77C8-0871-0F5B42F0E6D4}"/>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3" name="Footer Placeholder 2">
            <a:extLst>
              <a:ext uri="{FF2B5EF4-FFF2-40B4-BE49-F238E27FC236}">
                <a16:creationId xmlns:a16="http://schemas.microsoft.com/office/drawing/2014/main" id="{63A99A62-AD2D-B732-612E-7E95C7E4F2D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AEEA1C2-C698-A3D3-0FFA-114B596345F0}"/>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24383927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29380-2E82-EE12-3F45-EAAEBA5B9826}"/>
              </a:ext>
            </a:extLst>
          </p:cNvPr>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8B497B2-5977-E571-00A3-62ED5C8892BA}"/>
              </a:ext>
            </a:extLst>
          </p:cNvPr>
          <p:cNvSpPr>
            <a:spLocks noGrp="1"/>
          </p:cNvSpPr>
          <p:nvPr>
            <p:ph idx="1"/>
          </p:nvPr>
        </p:nvSpPr>
        <p:spPr>
          <a:xfrm>
            <a:off x="6910917" y="1316567"/>
            <a:ext cx="82296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7C740371-BDD3-026B-D7DA-7424805A60F1}"/>
              </a:ext>
            </a:extLst>
          </p:cNvPr>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a:extLst>
              <a:ext uri="{FF2B5EF4-FFF2-40B4-BE49-F238E27FC236}">
                <a16:creationId xmlns:a16="http://schemas.microsoft.com/office/drawing/2014/main" id="{A6189A43-3909-2781-8ED5-2ED038BD5DA8}"/>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6" name="Footer Placeholder 5">
            <a:extLst>
              <a:ext uri="{FF2B5EF4-FFF2-40B4-BE49-F238E27FC236}">
                <a16:creationId xmlns:a16="http://schemas.microsoft.com/office/drawing/2014/main" id="{9A942A9F-774A-EF14-4835-B72FBB66118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8BDC8EB-1AAD-E680-3D52-1E69FDF59299}"/>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3557769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1C291-251E-7252-88FD-D59758C10E0C}"/>
              </a:ext>
            </a:extLst>
          </p:cNvPr>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CF2A3750-1075-3478-303E-D9862DE47358}"/>
              </a:ext>
            </a:extLst>
          </p:cNvPr>
          <p:cNvSpPr>
            <a:spLocks noGrp="1"/>
          </p:cNvSpPr>
          <p:nvPr>
            <p:ph type="pic" idx="1"/>
          </p:nvPr>
        </p:nvSpPr>
        <p:spPr>
          <a:xfrm>
            <a:off x="6910917" y="1316567"/>
            <a:ext cx="8229600" cy="6498167"/>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CA"/>
          </a:p>
        </p:txBody>
      </p:sp>
      <p:sp>
        <p:nvSpPr>
          <p:cNvPr id="4" name="Text Placeholder 3">
            <a:extLst>
              <a:ext uri="{FF2B5EF4-FFF2-40B4-BE49-F238E27FC236}">
                <a16:creationId xmlns:a16="http://schemas.microsoft.com/office/drawing/2014/main" id="{4CC8331B-AEE3-6CD3-2BBD-5DF78BF0AD8A}"/>
              </a:ext>
            </a:extLst>
          </p:cNvPr>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a:extLst>
              <a:ext uri="{FF2B5EF4-FFF2-40B4-BE49-F238E27FC236}">
                <a16:creationId xmlns:a16="http://schemas.microsoft.com/office/drawing/2014/main" id="{09164024-876D-702F-D5E1-D0A78BE18A72}"/>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6" name="Footer Placeholder 5">
            <a:extLst>
              <a:ext uri="{FF2B5EF4-FFF2-40B4-BE49-F238E27FC236}">
                <a16:creationId xmlns:a16="http://schemas.microsoft.com/office/drawing/2014/main" id="{FA50B9F8-468C-D314-B600-5381DD1BD4E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8F1B829-22C2-DE9A-864B-E590D85BA116}"/>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1798204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07387-33AE-9BD3-194C-1E02991868D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D0004C5-786C-2A87-E025-43E57BFAE9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1987717-3CB4-0B59-0BB5-053F69794369}"/>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5" name="Footer Placeholder 4">
            <a:extLst>
              <a:ext uri="{FF2B5EF4-FFF2-40B4-BE49-F238E27FC236}">
                <a16:creationId xmlns:a16="http://schemas.microsoft.com/office/drawing/2014/main" id="{B3941CC0-A85C-0FFD-5121-9FFAA37F265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166048D-B314-9704-101F-A926AAF38810}"/>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37030981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B39579-70B0-2C34-554B-C09E866A5972}"/>
              </a:ext>
            </a:extLst>
          </p:cNvPr>
          <p:cNvSpPr>
            <a:spLocks noGrp="1"/>
          </p:cNvSpPr>
          <p:nvPr>
            <p:ph type="title" orient="vert"/>
          </p:nvPr>
        </p:nvSpPr>
        <p:spPr>
          <a:xfrm>
            <a:off x="11633200" y="486834"/>
            <a:ext cx="3505200" cy="7749117"/>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7DF1C37-1443-1BC7-3FE7-3295997054D0}"/>
              </a:ext>
            </a:extLst>
          </p:cNvPr>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F3F0774-1C4F-D444-951F-15378C1C9B85}"/>
              </a:ext>
            </a:extLst>
          </p:cNvPr>
          <p:cNvSpPr>
            <a:spLocks noGrp="1"/>
          </p:cNvSpPr>
          <p:nvPr>
            <p:ph type="dt" sz="half" idx="10"/>
          </p:nvPr>
        </p:nvSpPr>
        <p:spPr/>
        <p:txBody>
          <a:bodyPr/>
          <a:lstStyle/>
          <a:p>
            <a:fld id="{AA19656B-A7C9-4F13-BC63-B9340CB9049A}" type="datetimeFigureOut">
              <a:rPr lang="en-CA" smtClean="0"/>
              <a:t>2026-05-12</a:t>
            </a:fld>
            <a:endParaRPr lang="en-CA"/>
          </a:p>
        </p:txBody>
      </p:sp>
      <p:sp>
        <p:nvSpPr>
          <p:cNvPr id="5" name="Footer Placeholder 4">
            <a:extLst>
              <a:ext uri="{FF2B5EF4-FFF2-40B4-BE49-F238E27FC236}">
                <a16:creationId xmlns:a16="http://schemas.microsoft.com/office/drawing/2014/main" id="{497453C5-1BC0-738F-4D05-D0A1E4C3662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7796A7E-ECF4-72CC-74FB-2896A69D6584}"/>
              </a:ext>
            </a:extLst>
          </p:cNvPr>
          <p:cNvSpPr>
            <a:spLocks noGrp="1"/>
          </p:cNvSpPr>
          <p:nvPr>
            <p:ph type="sldNum" sz="quarter" idx="12"/>
          </p:nvPr>
        </p:nvSpPr>
        <p:spPr/>
        <p:txBody>
          <a:bodyPr/>
          <a:lstStyle/>
          <a:p>
            <a:fld id="{61858E6E-B99C-4C95-919A-08018743A118}" type="slidenum">
              <a:rPr lang="en-CA" smtClean="0"/>
              <a:t>‹#›</a:t>
            </a:fld>
            <a:endParaRPr lang="en-CA"/>
          </a:p>
        </p:txBody>
      </p:sp>
    </p:spTree>
    <p:extLst>
      <p:ext uri="{BB962C8B-B14F-4D97-AF65-F5344CB8AC3E}">
        <p14:creationId xmlns:p14="http://schemas.microsoft.com/office/powerpoint/2010/main" val="2957508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47DE31-C996-9FC5-49B4-267D5E57A5B8}"/>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514A9A4-08D3-8F72-2F35-DF1222955A93}"/>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94178C4-C671-F0B5-13E5-385657E46B46}"/>
              </a:ext>
            </a:extLst>
          </p:cNvPr>
          <p:cNvSpPr>
            <a:spLocks noGrp="1"/>
          </p:cNvSpPr>
          <p:nvPr>
            <p:ph type="dt" sz="half" idx="2"/>
          </p:nvPr>
        </p:nvSpPr>
        <p:spPr>
          <a:xfrm>
            <a:off x="1117600" y="8475134"/>
            <a:ext cx="3657600" cy="486833"/>
          </a:xfrm>
          <a:prstGeom prst="rect">
            <a:avLst/>
          </a:prstGeom>
        </p:spPr>
        <p:txBody>
          <a:bodyPr vert="horz" lIns="91440" tIns="45720" rIns="91440" bIns="45720" rtlCol="0" anchor="ctr"/>
          <a:lstStyle>
            <a:lvl1pPr algn="l">
              <a:defRPr sz="1600">
                <a:solidFill>
                  <a:schemeClr val="tx1">
                    <a:tint val="82000"/>
                  </a:schemeClr>
                </a:solidFill>
              </a:defRPr>
            </a:lvl1pPr>
          </a:lstStyle>
          <a:p>
            <a:fld id="{AA19656B-A7C9-4F13-BC63-B9340CB9049A}" type="datetimeFigureOut">
              <a:rPr lang="en-CA" smtClean="0"/>
              <a:t>2026-05-12</a:t>
            </a:fld>
            <a:endParaRPr lang="en-CA"/>
          </a:p>
        </p:txBody>
      </p:sp>
      <p:sp>
        <p:nvSpPr>
          <p:cNvPr id="5" name="Footer Placeholder 4">
            <a:extLst>
              <a:ext uri="{FF2B5EF4-FFF2-40B4-BE49-F238E27FC236}">
                <a16:creationId xmlns:a16="http://schemas.microsoft.com/office/drawing/2014/main" id="{5FCCF4F7-B8EF-38FC-34F8-CC16064D373B}"/>
              </a:ext>
            </a:extLst>
          </p:cNvPr>
          <p:cNvSpPr>
            <a:spLocks noGrp="1"/>
          </p:cNvSpPr>
          <p:nvPr>
            <p:ph type="ftr" sz="quarter" idx="3"/>
          </p:nvPr>
        </p:nvSpPr>
        <p:spPr>
          <a:xfrm>
            <a:off x="5384800" y="8475134"/>
            <a:ext cx="5486400" cy="486833"/>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7B8F569E-33DC-49E9-433C-E464EB6A2887}"/>
              </a:ext>
            </a:extLst>
          </p:cNvPr>
          <p:cNvSpPr>
            <a:spLocks noGrp="1"/>
          </p:cNvSpPr>
          <p:nvPr>
            <p:ph type="sldNum" sz="quarter" idx="4"/>
          </p:nvPr>
        </p:nvSpPr>
        <p:spPr>
          <a:xfrm>
            <a:off x="11480800" y="8475134"/>
            <a:ext cx="3657600" cy="486833"/>
          </a:xfrm>
          <a:prstGeom prst="rect">
            <a:avLst/>
          </a:prstGeom>
        </p:spPr>
        <p:txBody>
          <a:bodyPr vert="horz" lIns="91440" tIns="45720" rIns="91440" bIns="45720" rtlCol="0" anchor="ctr"/>
          <a:lstStyle>
            <a:lvl1pPr algn="r">
              <a:defRPr sz="1600">
                <a:solidFill>
                  <a:schemeClr val="tx1">
                    <a:tint val="82000"/>
                  </a:schemeClr>
                </a:solidFill>
              </a:defRPr>
            </a:lvl1pPr>
          </a:lstStyle>
          <a:p>
            <a:fld id="{61858E6E-B99C-4C95-919A-08018743A118}" type="slidenum">
              <a:rPr lang="en-CA" smtClean="0"/>
              <a:t>‹#›</a:t>
            </a:fld>
            <a:endParaRPr lang="en-CA"/>
          </a:p>
        </p:txBody>
      </p:sp>
    </p:spTree>
    <p:extLst>
      <p:ext uri="{BB962C8B-B14F-4D97-AF65-F5344CB8AC3E}">
        <p14:creationId xmlns:p14="http://schemas.microsoft.com/office/powerpoint/2010/main" val="3728792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s://despital.github.io/social-exposure-theory-demo/?demo=true" TargetMode="Externa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5_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07_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4873-A905-68C2-33E2-3F018A241CEA}"/>
              </a:ext>
            </a:extLst>
          </p:cNvPr>
          <p:cNvSpPr>
            <a:spLocks noGrp="1"/>
          </p:cNvSpPr>
          <p:nvPr>
            <p:ph type="ctrTitle"/>
          </p:nvPr>
        </p:nvSpPr>
        <p:spPr/>
        <p:txBody>
          <a:bodyPr>
            <a:normAutofit fontScale="90000"/>
          </a:bodyPr>
          <a:lstStyle/>
          <a:p>
            <a:r>
              <a:rPr lang="en-US" b="1"/>
              <a:t>Unequal Exposure and Stereotyping: Study 1 Design Overview</a:t>
            </a:r>
          </a:p>
        </p:txBody>
      </p:sp>
      <p:sp>
        <p:nvSpPr>
          <p:cNvPr id="3" name="Subtitle 2">
            <a:extLst>
              <a:ext uri="{FF2B5EF4-FFF2-40B4-BE49-F238E27FC236}">
                <a16:creationId xmlns:a16="http://schemas.microsoft.com/office/drawing/2014/main" id="{E1B6BD90-895A-0C26-8C34-6B0E244D6D6A}"/>
              </a:ext>
            </a:extLst>
          </p:cNvPr>
          <p:cNvSpPr>
            <a:spLocks noGrp="1"/>
          </p:cNvSpPr>
          <p:nvPr>
            <p:ph type="subTitle" idx="1"/>
          </p:nvPr>
        </p:nvSpPr>
        <p:spPr/>
        <p:txBody>
          <a:bodyPr/>
          <a:lstStyle/>
          <a:p>
            <a:r>
              <a:rPr lang="en-CA"/>
              <a:t>2026-03-06</a:t>
            </a:r>
          </a:p>
        </p:txBody>
      </p:sp>
    </p:spTree>
    <p:extLst>
      <p:ext uri="{BB962C8B-B14F-4D97-AF65-F5344CB8AC3E}">
        <p14:creationId xmlns:p14="http://schemas.microsoft.com/office/powerpoint/2010/main" val="4282530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01721-4C0C-11D1-8D35-CC236DAAD1D3}"/>
              </a:ext>
            </a:extLst>
          </p:cNvPr>
          <p:cNvSpPr>
            <a:spLocks noGrp="1"/>
          </p:cNvSpPr>
          <p:nvPr>
            <p:ph type="title"/>
          </p:nvPr>
        </p:nvSpPr>
        <p:spPr/>
        <p:txBody>
          <a:bodyPr/>
          <a:lstStyle/>
          <a:p>
            <a:r>
              <a:rPr lang="en-CA" b="1"/>
              <a:t>Background &amp; Research Question</a:t>
            </a:r>
          </a:p>
        </p:txBody>
      </p:sp>
      <p:sp>
        <p:nvSpPr>
          <p:cNvPr id="3" name="Content Placeholder 2">
            <a:extLst>
              <a:ext uri="{FF2B5EF4-FFF2-40B4-BE49-F238E27FC236}">
                <a16:creationId xmlns:a16="http://schemas.microsoft.com/office/drawing/2014/main" id="{6E0505FD-9CE0-85DF-F6F4-FC2F5E4532A4}"/>
              </a:ext>
            </a:extLst>
          </p:cNvPr>
          <p:cNvSpPr>
            <a:spLocks noGrp="1"/>
          </p:cNvSpPr>
          <p:nvPr>
            <p:ph idx="1"/>
          </p:nvPr>
        </p:nvSpPr>
        <p:spPr/>
        <p:txBody>
          <a:bodyPr>
            <a:normAutofit fontScale="92500" lnSpcReduction="10000"/>
          </a:bodyPr>
          <a:lstStyle/>
          <a:p>
            <a:pPr defTabSz="914400" eaLnBrk="0" fontAlgn="base" hangingPunct="0">
              <a:lnSpc>
                <a:spcPct val="100000"/>
              </a:lnSpc>
              <a:spcBef>
                <a:spcPct val="0"/>
              </a:spcBef>
              <a:spcAft>
                <a:spcPct val="0"/>
              </a:spcAft>
            </a:pPr>
            <a:r>
              <a:rPr lang="en-US" altLang="en-US" sz="4000">
                <a:latin typeface="Arial" panose="020B0604020202020204" pitchFamily="34" charset="0"/>
              </a:rPr>
              <a:t>Group bias can emerge from both motivational factors and simple exposure frequency.</a:t>
            </a:r>
          </a:p>
          <a:p>
            <a:pPr defTabSz="914400" eaLnBrk="0" fontAlgn="base" hangingPunct="0">
              <a:lnSpc>
                <a:spcPct val="100000"/>
              </a:lnSpc>
              <a:spcBef>
                <a:spcPct val="0"/>
              </a:spcBef>
              <a:spcAft>
                <a:spcPct val="0"/>
              </a:spcAft>
            </a:pPr>
            <a:r>
              <a:rPr lang="en-US" altLang="en-US" sz="4000">
                <a:latin typeface="Arial" panose="020B0604020202020204" pitchFamily="34" charset="0"/>
              </a:rPr>
              <a:t>A recent study using multi-agent reinforcement learning showed that exposure alone can produce group bias.</a:t>
            </a:r>
          </a:p>
          <a:p>
            <a:pPr defTabSz="914400" eaLnBrk="0" fontAlgn="base" hangingPunct="0">
              <a:lnSpc>
                <a:spcPct val="100000"/>
              </a:lnSpc>
              <a:spcBef>
                <a:spcPct val="0"/>
              </a:spcBef>
              <a:spcAft>
                <a:spcPct val="0"/>
              </a:spcAft>
            </a:pPr>
            <a:r>
              <a:rPr lang="en-US" altLang="en-US" sz="4000">
                <a:latin typeface="Arial" panose="020B0604020202020204" pitchFamily="34" charset="0"/>
              </a:rPr>
              <a:t>Specifically, differences in agents’ ability to correctly identify a negative individual in the ingroup versus the outgroup were correlated with the magnitude of outgroup bias.</a:t>
            </a:r>
          </a:p>
          <a:p>
            <a:pPr defTabSz="914400" eaLnBrk="0" fontAlgn="base" hangingPunct="0">
              <a:lnSpc>
                <a:spcPct val="100000"/>
              </a:lnSpc>
              <a:spcBef>
                <a:spcPct val="0"/>
              </a:spcBef>
              <a:spcAft>
                <a:spcPct val="0"/>
              </a:spcAft>
            </a:pPr>
            <a:r>
              <a:rPr lang="en-US" altLang="en-US" sz="4000">
                <a:latin typeface="Arial" panose="020B0604020202020204" pitchFamily="34" charset="0"/>
              </a:rPr>
              <a:t>Inspired by this finding, we ask:</a:t>
            </a:r>
          </a:p>
          <a:p>
            <a:pPr lvl="1" defTabSz="914400" eaLnBrk="0" fontAlgn="base" hangingPunct="0">
              <a:lnSpc>
                <a:spcPct val="100000"/>
              </a:lnSpc>
              <a:spcBef>
                <a:spcPct val="0"/>
              </a:spcBef>
              <a:spcAft>
                <a:spcPct val="0"/>
              </a:spcAft>
            </a:pPr>
            <a:r>
              <a:rPr lang="en-US" altLang="en-US" sz="3467">
                <a:latin typeface="Arial" panose="020B0604020202020204" pitchFamily="34" charset="0"/>
              </a:rPr>
              <a:t>Does differential learning about the individual characteristics of members from different groups, due to exposure difference, lead to group bias in humans?</a:t>
            </a:r>
          </a:p>
          <a:p>
            <a:endParaRPr lang="en-US"/>
          </a:p>
        </p:txBody>
      </p:sp>
    </p:spTree>
    <p:extLst>
      <p:ext uri="{BB962C8B-B14F-4D97-AF65-F5344CB8AC3E}">
        <p14:creationId xmlns:p14="http://schemas.microsoft.com/office/powerpoint/2010/main" val="90117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A9FA0-D31D-8AA8-5690-4B16021B7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AFB8C9-FE31-E243-6914-08A56D3EEFCB}"/>
              </a:ext>
            </a:extLst>
          </p:cNvPr>
          <p:cNvSpPr>
            <a:spLocks noGrp="1"/>
          </p:cNvSpPr>
          <p:nvPr>
            <p:ph type="title"/>
          </p:nvPr>
        </p:nvSpPr>
        <p:spPr/>
        <p:txBody>
          <a:bodyPr/>
          <a:lstStyle/>
          <a:p>
            <a:r>
              <a:rPr lang="en-CA" b="1"/>
              <a:t>Research Question</a:t>
            </a:r>
          </a:p>
        </p:txBody>
      </p:sp>
      <p:sp>
        <p:nvSpPr>
          <p:cNvPr id="3" name="Content Placeholder 2">
            <a:extLst>
              <a:ext uri="{FF2B5EF4-FFF2-40B4-BE49-F238E27FC236}">
                <a16:creationId xmlns:a16="http://schemas.microsoft.com/office/drawing/2014/main" id="{FD549644-EE59-F7BC-EBFB-259E88053FD1}"/>
              </a:ext>
            </a:extLst>
          </p:cNvPr>
          <p:cNvSpPr>
            <a:spLocks noGrp="1"/>
          </p:cNvSpPr>
          <p:nvPr>
            <p:ph idx="1"/>
          </p:nvPr>
        </p:nvSpPr>
        <p:spPr/>
        <p:txBody>
          <a:bodyPr/>
          <a:lstStyle/>
          <a:p>
            <a:r>
              <a:rPr lang="en-US"/>
              <a:t>We will conduct a conceptual replication of Koster et al. (2025) by having participants play a game in which they can actively choose which social partners to interact with.</a:t>
            </a:r>
          </a:p>
          <a:p>
            <a:endParaRPr lang="en-US"/>
          </a:p>
          <a:p>
            <a:r>
              <a:rPr lang="en-US"/>
              <a:t>Demo </a:t>
            </a:r>
            <a:r>
              <a:rPr lang="en-US">
                <a:hlinkClick r:id="rId2"/>
              </a:rPr>
              <a:t>https://despital.github.io/social-exposure-theory-demo/?demo=true</a:t>
            </a:r>
            <a:endParaRPr lang="en-US"/>
          </a:p>
        </p:txBody>
      </p:sp>
    </p:spTree>
    <p:extLst>
      <p:ext uri="{BB962C8B-B14F-4D97-AF65-F5344CB8AC3E}">
        <p14:creationId xmlns:p14="http://schemas.microsoft.com/office/powerpoint/2010/main" val="4085509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91B319A8-199D-80C9-65C8-7E45900AC415}"/>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9BC1BD25-6BEB-98BF-9082-40140198328B}"/>
              </a:ext>
            </a:extLst>
          </p:cNvPr>
          <p:cNvSpPr/>
          <p:nvPr/>
        </p:nvSpPr>
        <p:spPr>
          <a:xfrm>
            <a:off x="11765819" y="550258"/>
            <a:ext cx="3819441" cy="28322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4EE589-F2B2-CD16-3E90-DD952DFC6293}"/>
              </a:ext>
            </a:extLst>
          </p:cNvPr>
          <p:cNvSpPr txBox="1"/>
          <p:nvPr/>
        </p:nvSpPr>
        <p:spPr>
          <a:xfrm>
            <a:off x="508000" y="533400"/>
            <a:ext cx="11201400" cy="923330"/>
          </a:xfrm>
          <a:prstGeom prst="rect">
            <a:avLst/>
          </a:prstGeom>
          <a:solidFill>
            <a:schemeClr val="bg1"/>
          </a:solidFill>
        </p:spPr>
        <p:txBody>
          <a:bodyPr wrap="square" rtlCol="0">
            <a:spAutoFit/>
          </a:bodyPr>
          <a:lstStyle/>
          <a:p>
            <a:r>
              <a:rPr lang="en-CA" sz="5400" b="1"/>
              <a:t>Participants Sampling</a:t>
            </a:r>
          </a:p>
        </p:txBody>
      </p:sp>
      <p:sp>
        <p:nvSpPr>
          <p:cNvPr id="3" name="TextBox 2">
            <a:extLst>
              <a:ext uri="{FF2B5EF4-FFF2-40B4-BE49-F238E27FC236}">
                <a16:creationId xmlns:a16="http://schemas.microsoft.com/office/drawing/2014/main" id="{F16831A3-70E9-5C72-C827-8334F21A44E9}"/>
              </a:ext>
            </a:extLst>
          </p:cNvPr>
          <p:cNvSpPr txBox="1"/>
          <p:nvPr/>
        </p:nvSpPr>
        <p:spPr>
          <a:xfrm>
            <a:off x="660400" y="2209800"/>
            <a:ext cx="14401800" cy="369332"/>
          </a:xfrm>
          <a:prstGeom prst="rect">
            <a:avLst/>
          </a:prstGeom>
          <a:noFill/>
        </p:spPr>
        <p:txBody>
          <a:bodyPr wrap="square" rtlCol="0">
            <a:spAutoFit/>
          </a:bodyPr>
          <a:lstStyle/>
          <a:p>
            <a:pPr marL="285750" indent="-285750">
              <a:buFont typeface="Arial" panose="020B0604020202020204" pitchFamily="34" charset="0"/>
              <a:buChar char="•"/>
            </a:pPr>
            <a:r>
              <a:rPr lang="en-CA"/>
              <a:t>Age </a:t>
            </a:r>
          </a:p>
        </p:txBody>
      </p:sp>
    </p:spTree>
    <p:extLst>
      <p:ext uri="{BB962C8B-B14F-4D97-AF65-F5344CB8AC3E}">
        <p14:creationId xmlns:p14="http://schemas.microsoft.com/office/powerpoint/2010/main" val="2249193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310C7E95-952A-D9EE-CED9-41671A8D297C}"/>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5" name="Rectangle 4">
            <a:extLst>
              <a:ext uri="{FF2B5EF4-FFF2-40B4-BE49-F238E27FC236}">
                <a16:creationId xmlns:a16="http://schemas.microsoft.com/office/drawing/2014/main" id="{B5CCA1FA-CA40-B6B8-8260-7AD98B1ECF7B}"/>
              </a:ext>
            </a:extLst>
          </p:cNvPr>
          <p:cNvSpPr/>
          <p:nvPr/>
        </p:nvSpPr>
        <p:spPr>
          <a:xfrm>
            <a:off x="4394200" y="2895600"/>
            <a:ext cx="7391400" cy="472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4" name="Picture 3">
            <a:extLst>
              <a:ext uri="{FF2B5EF4-FFF2-40B4-BE49-F238E27FC236}">
                <a16:creationId xmlns:a16="http://schemas.microsoft.com/office/drawing/2014/main" id="{A3013F23-A6D7-8B98-173C-F25ADDFD06C7}"/>
              </a:ext>
            </a:extLst>
          </p:cNvPr>
          <p:cNvPicPr>
            <a:picLocks noChangeAspect="1"/>
          </p:cNvPicPr>
          <p:nvPr/>
        </p:nvPicPr>
        <p:blipFill>
          <a:blip r:embed="rId4"/>
          <a:stretch>
            <a:fillRect/>
          </a:stretch>
        </p:blipFill>
        <p:spPr>
          <a:xfrm>
            <a:off x="5689600" y="2809297"/>
            <a:ext cx="4605864" cy="4897006"/>
          </a:xfrm>
          <a:prstGeom prst="rect">
            <a:avLst/>
          </a:prstGeom>
        </p:spPr>
      </p:pic>
      <p:sp>
        <p:nvSpPr>
          <p:cNvPr id="6" name="Rectangle 5">
            <a:extLst>
              <a:ext uri="{FF2B5EF4-FFF2-40B4-BE49-F238E27FC236}">
                <a16:creationId xmlns:a16="http://schemas.microsoft.com/office/drawing/2014/main" id="{F87EDE9F-8437-4693-994D-7C6FBB87CAD1}"/>
              </a:ext>
            </a:extLst>
          </p:cNvPr>
          <p:cNvSpPr/>
          <p:nvPr/>
        </p:nvSpPr>
        <p:spPr>
          <a:xfrm>
            <a:off x="2108200" y="6858000"/>
            <a:ext cx="457200" cy="30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6">
            <a:extLst>
              <a:ext uri="{FF2B5EF4-FFF2-40B4-BE49-F238E27FC236}">
                <a16:creationId xmlns:a16="http://schemas.microsoft.com/office/drawing/2014/main" id="{6AF318E4-493C-ECEC-CB59-A4A6E83451C6}"/>
              </a:ext>
            </a:extLst>
          </p:cNvPr>
          <p:cNvSpPr/>
          <p:nvPr/>
        </p:nvSpPr>
        <p:spPr>
          <a:xfrm>
            <a:off x="3021693" y="7157357"/>
            <a:ext cx="457200" cy="30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29085C0A-CC7F-DD51-A7E3-D7EE20E1D7AC}"/>
              </a:ext>
            </a:extLst>
          </p:cNvPr>
          <p:cNvSpPr/>
          <p:nvPr/>
        </p:nvSpPr>
        <p:spPr>
          <a:xfrm>
            <a:off x="14909800" y="8839200"/>
            <a:ext cx="1295400" cy="26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3E97F5F4-F5E4-456F-79D4-CBCFD466EB4D}"/>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6C84A3EA-F2F7-1724-1D8A-DFD367479DB7}"/>
              </a:ext>
            </a:extLst>
          </p:cNvPr>
          <p:cNvSpPr/>
          <p:nvPr/>
        </p:nvSpPr>
        <p:spPr>
          <a:xfrm>
            <a:off x="812800" y="6324600"/>
            <a:ext cx="6858000" cy="152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v</a:t>
            </a:r>
          </a:p>
        </p:txBody>
      </p:sp>
      <p:sp>
        <p:nvSpPr>
          <p:cNvPr id="5" name="Rectangle 4">
            <a:extLst>
              <a:ext uri="{FF2B5EF4-FFF2-40B4-BE49-F238E27FC236}">
                <a16:creationId xmlns:a16="http://schemas.microsoft.com/office/drawing/2014/main" id="{4090B3F0-ABE8-BBB0-F6D4-1A48FE0FEEC2}"/>
              </a:ext>
            </a:extLst>
          </p:cNvPr>
          <p:cNvSpPr/>
          <p:nvPr/>
        </p:nvSpPr>
        <p:spPr>
          <a:xfrm>
            <a:off x="8589738" y="6324600"/>
            <a:ext cx="6858000" cy="152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v</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C6E6CD-1ECF-EEBA-B87E-5E8A4C430C83}"/>
              </a:ext>
            </a:extLst>
          </p:cNvPr>
          <p:cNvSpPr txBox="1"/>
          <p:nvPr/>
        </p:nvSpPr>
        <p:spPr>
          <a:xfrm>
            <a:off x="508000" y="533400"/>
            <a:ext cx="11201400" cy="923330"/>
          </a:xfrm>
          <a:prstGeom prst="rect">
            <a:avLst/>
          </a:prstGeom>
          <a:solidFill>
            <a:schemeClr val="bg1"/>
          </a:solidFill>
        </p:spPr>
        <p:txBody>
          <a:bodyPr wrap="square" rtlCol="0">
            <a:spAutoFit/>
          </a:bodyPr>
          <a:lstStyle/>
          <a:p>
            <a:r>
              <a:rPr lang="en-CA" sz="5400" b="1"/>
              <a:t>Sampling logic</a:t>
            </a:r>
          </a:p>
        </p:txBody>
      </p:sp>
      <p:sp>
        <p:nvSpPr>
          <p:cNvPr id="3" name="TextBox 2">
            <a:extLst>
              <a:ext uri="{FF2B5EF4-FFF2-40B4-BE49-F238E27FC236}">
                <a16:creationId xmlns:a16="http://schemas.microsoft.com/office/drawing/2014/main" id="{22CD65F3-2AE9-A6D8-FB29-06CEF0E5DE26}"/>
              </a:ext>
            </a:extLst>
          </p:cNvPr>
          <p:cNvSpPr txBox="1"/>
          <p:nvPr/>
        </p:nvSpPr>
        <p:spPr>
          <a:xfrm>
            <a:off x="841572" y="2330506"/>
            <a:ext cx="14420007" cy="369332"/>
          </a:xfrm>
          <a:prstGeom prst="rect">
            <a:avLst/>
          </a:prstGeom>
          <a:noFill/>
        </p:spPr>
        <p:txBody>
          <a:bodyPr wrap="square" rtlCol="0">
            <a:spAutoFit/>
          </a:bodyPr>
          <a:lstStyle/>
          <a:p>
            <a:pPr marL="285750" indent="-285750">
              <a:buFont typeface="Arial" panose="020B0604020202020204" pitchFamily="34" charset="0"/>
              <a:buChar char="•"/>
            </a:pPr>
            <a:r>
              <a:rPr lang="en-CA"/>
              <a:t>How are the four faces sampled</a:t>
            </a:r>
          </a:p>
        </p:txBody>
      </p:sp>
    </p:spTree>
    <p:extLst>
      <p:ext uri="{BB962C8B-B14F-4D97-AF65-F5344CB8AC3E}">
        <p14:creationId xmlns:p14="http://schemas.microsoft.com/office/powerpoint/2010/main" val="3908703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E85B97A1-DAA4-F64F-B735-8216F2E7665F}"/>
              </a:ext>
            </a:extLst>
          </p:cNvPr>
          <p:cNvSpPr/>
          <p:nvPr/>
        </p:nvSpPr>
        <p:spPr>
          <a:xfrm>
            <a:off x="3860800" y="3352800"/>
            <a:ext cx="3048000"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C29541CC-0D22-55D6-CA6E-E2A7129FAA13}"/>
              </a:ext>
            </a:extLst>
          </p:cNvPr>
          <p:cNvSpPr/>
          <p:nvPr/>
        </p:nvSpPr>
        <p:spPr>
          <a:xfrm>
            <a:off x="3851729" y="5486400"/>
            <a:ext cx="3048000"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ED1BBCB2-DD3F-9684-8D0A-4BBF485E9B0A}"/>
              </a:ext>
            </a:extLst>
          </p:cNvPr>
          <p:cNvSpPr/>
          <p:nvPr/>
        </p:nvSpPr>
        <p:spPr>
          <a:xfrm>
            <a:off x="3851729" y="7620000"/>
            <a:ext cx="3048000"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EA2034D5-5AAA-322C-7AFA-592D578F3647}"/>
              </a:ext>
            </a:extLst>
          </p:cNvPr>
          <p:cNvSpPr txBox="1"/>
          <p:nvPr/>
        </p:nvSpPr>
        <p:spPr>
          <a:xfrm>
            <a:off x="508000" y="533400"/>
            <a:ext cx="11201400" cy="923330"/>
          </a:xfrm>
          <a:prstGeom prst="rect">
            <a:avLst/>
          </a:prstGeom>
          <a:solidFill>
            <a:schemeClr val="bg1"/>
          </a:solidFill>
        </p:spPr>
        <p:txBody>
          <a:bodyPr wrap="square" rtlCol="0">
            <a:spAutoFit/>
          </a:bodyPr>
          <a:lstStyle/>
          <a:p>
            <a:r>
              <a:rPr lang="en-CA" sz="5400" b="1"/>
              <a:t>Phase 1 (Learning) Conditions</a:t>
            </a:r>
          </a:p>
        </p:txBody>
      </p:sp>
      <p:sp>
        <p:nvSpPr>
          <p:cNvPr id="8" name="Rectangle 7">
            <a:extLst>
              <a:ext uri="{FF2B5EF4-FFF2-40B4-BE49-F238E27FC236}">
                <a16:creationId xmlns:a16="http://schemas.microsoft.com/office/drawing/2014/main" id="{0A6961C1-8177-0133-C639-DA6105B1EF15}"/>
              </a:ext>
            </a:extLst>
          </p:cNvPr>
          <p:cNvSpPr/>
          <p:nvPr/>
        </p:nvSpPr>
        <p:spPr>
          <a:xfrm>
            <a:off x="10490200" y="2286000"/>
            <a:ext cx="5562600" cy="5943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67E40E8A-546E-149A-B334-CA441E4ACF3C}"/>
              </a:ext>
            </a:extLst>
          </p:cNvPr>
          <p:cNvSpPr/>
          <p:nvPr/>
        </p:nvSpPr>
        <p:spPr>
          <a:xfrm>
            <a:off x="14909800" y="8839200"/>
            <a:ext cx="1295400" cy="26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C975D29C-7972-656F-0F2D-721FEDDBE1C1}"/>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2CF1554A-402E-C60A-02BE-EB8C940CF177}"/>
              </a:ext>
            </a:extLst>
          </p:cNvPr>
          <p:cNvSpPr/>
          <p:nvPr/>
        </p:nvSpPr>
        <p:spPr>
          <a:xfrm>
            <a:off x="14909800" y="8839200"/>
            <a:ext cx="1295400" cy="26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2CD32639-F89F-978A-3551-AE18022F922C}"/>
              </a:ext>
            </a:extLst>
          </p:cNvPr>
          <p:cNvSpPr txBox="1"/>
          <p:nvPr/>
        </p:nvSpPr>
        <p:spPr>
          <a:xfrm>
            <a:off x="7604074" y="5313145"/>
            <a:ext cx="1047851" cy="369332"/>
          </a:xfrm>
          <a:prstGeom prst="rect">
            <a:avLst/>
          </a:prstGeom>
          <a:noFill/>
        </p:spPr>
        <p:txBody>
          <a:bodyPr wrap="none" rtlCol="0">
            <a:spAutoFit/>
          </a:bodyPr>
          <a:lstStyle/>
          <a:p>
            <a:r>
              <a:rPr lang="en-CA"/>
              <a:t>Red/Blue</a:t>
            </a:r>
          </a:p>
        </p:txBody>
      </p:sp>
    </p:spTree>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39686322-EA77-C681-051E-DCAF4737E475}"/>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93406D6B-2849-AC60-ECC0-D0D833AB8049}"/>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CE78467D-03CA-A7D6-04C7-6620AFCFBF58}"/>
              </a:ext>
            </a:extLst>
          </p:cNvPr>
          <p:cNvSpPr/>
          <p:nvPr/>
        </p:nvSpPr>
        <p:spPr>
          <a:xfrm>
            <a:off x="1181437" y="5575412"/>
            <a:ext cx="5300283" cy="18530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27FBC4F2-C777-6818-0F9B-4F33D380409E}"/>
              </a:ext>
            </a:extLst>
          </p:cNvPr>
          <p:cNvSpPr txBox="1"/>
          <p:nvPr/>
        </p:nvSpPr>
        <p:spPr>
          <a:xfrm>
            <a:off x="3380032" y="5021832"/>
            <a:ext cx="1047851" cy="369332"/>
          </a:xfrm>
          <a:prstGeom prst="rect">
            <a:avLst/>
          </a:prstGeom>
          <a:noFill/>
        </p:spPr>
        <p:txBody>
          <a:bodyPr wrap="none" rtlCol="0">
            <a:spAutoFit/>
          </a:bodyPr>
          <a:lstStyle/>
          <a:p>
            <a:r>
              <a:rPr lang="en-CA"/>
              <a:t>Red/Blue</a:t>
            </a:r>
          </a:p>
        </p:txBody>
      </p:sp>
      <p:sp>
        <p:nvSpPr>
          <p:cNvPr id="6" name="TextBox 5">
            <a:extLst>
              <a:ext uri="{FF2B5EF4-FFF2-40B4-BE49-F238E27FC236}">
                <a16:creationId xmlns:a16="http://schemas.microsoft.com/office/drawing/2014/main" id="{B6BDD216-382E-A060-5511-E171F39EC398}"/>
              </a:ext>
            </a:extLst>
          </p:cNvPr>
          <p:cNvSpPr txBox="1"/>
          <p:nvPr/>
        </p:nvSpPr>
        <p:spPr>
          <a:xfrm>
            <a:off x="11941405" y="5021832"/>
            <a:ext cx="1047851" cy="369332"/>
          </a:xfrm>
          <a:prstGeom prst="rect">
            <a:avLst/>
          </a:prstGeom>
          <a:noFill/>
        </p:spPr>
        <p:txBody>
          <a:bodyPr wrap="none" rtlCol="0">
            <a:spAutoFit/>
          </a:bodyPr>
          <a:lstStyle/>
          <a:p>
            <a:r>
              <a:rPr lang="en-CA"/>
              <a:t>Red/Blue</a:t>
            </a:r>
          </a:p>
        </p:txBody>
      </p:sp>
      <p:sp>
        <p:nvSpPr>
          <p:cNvPr id="7" name="TextBox 6">
            <a:extLst>
              <a:ext uri="{FF2B5EF4-FFF2-40B4-BE49-F238E27FC236}">
                <a16:creationId xmlns:a16="http://schemas.microsoft.com/office/drawing/2014/main" id="{F5AD3D2B-8EAA-B5B4-5110-EBAD266B468A}"/>
              </a:ext>
            </a:extLst>
          </p:cNvPr>
          <p:cNvSpPr txBox="1"/>
          <p:nvPr/>
        </p:nvSpPr>
        <p:spPr>
          <a:xfrm>
            <a:off x="1327094" y="5769621"/>
            <a:ext cx="4992786" cy="830997"/>
          </a:xfrm>
          <a:prstGeom prst="rect">
            <a:avLst/>
          </a:prstGeom>
          <a:noFill/>
        </p:spPr>
        <p:txBody>
          <a:bodyPr wrap="square" rtlCol="0">
            <a:spAutoFit/>
          </a:bodyPr>
          <a:lstStyle/>
          <a:p>
            <a:pPr lvl="0" algn="ctr" eaLnBrk="0" fontAlgn="base" hangingPunct="0">
              <a:spcBef>
                <a:spcPct val="0"/>
              </a:spcBef>
              <a:spcAft>
                <a:spcPct val="0"/>
              </a:spcAft>
            </a:pPr>
            <a:r>
              <a:rPr lang="en-US" altLang="en-US" sz="2400" b="1">
                <a:latin typeface="Arial" panose="020B0604020202020204" pitchFamily="34" charset="0"/>
              </a:rPr>
              <a:t>What is the likelihood that this target will punish you?</a:t>
            </a:r>
          </a:p>
        </p:txBody>
      </p:sp>
      <p:sp>
        <p:nvSpPr>
          <p:cNvPr id="9" name="Oval 8">
            <a:extLst>
              <a:ext uri="{FF2B5EF4-FFF2-40B4-BE49-F238E27FC236}">
                <a16:creationId xmlns:a16="http://schemas.microsoft.com/office/drawing/2014/main" id="{6A5B63A8-CC0B-B56B-3A20-FAC0430E7333}"/>
              </a:ext>
            </a:extLst>
          </p:cNvPr>
          <p:cNvSpPr/>
          <p:nvPr/>
        </p:nvSpPr>
        <p:spPr>
          <a:xfrm>
            <a:off x="14215533" y="6641987"/>
            <a:ext cx="247947" cy="252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868840D4-F17A-2867-E71E-D73862925543}"/>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940DEB11-7BA6-8EC6-8351-70405D70A482}"/>
              </a:ext>
            </a:extLst>
          </p:cNvPr>
          <p:cNvSpPr/>
          <p:nvPr/>
        </p:nvSpPr>
        <p:spPr>
          <a:xfrm>
            <a:off x="0" y="8686800"/>
            <a:ext cx="162052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EB79C24D-3032-5A48-4EC9-0A972201D0A8}"/>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3" name="Rectangle 2">
            <a:extLst>
              <a:ext uri="{FF2B5EF4-FFF2-40B4-BE49-F238E27FC236}">
                <a16:creationId xmlns:a16="http://schemas.microsoft.com/office/drawing/2014/main" id="{B6C76031-9659-CD51-F3C0-933C47EE592F}"/>
              </a:ext>
            </a:extLst>
          </p:cNvPr>
          <p:cNvSpPr/>
          <p:nvPr/>
        </p:nvSpPr>
        <p:spPr>
          <a:xfrm>
            <a:off x="14909800" y="8686800"/>
            <a:ext cx="12954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95FDF6-B5A3-2CF4-38EA-1860E4F7FD97}"/>
              </a:ext>
            </a:extLst>
          </p:cNvPr>
          <p:cNvSpPr txBox="1"/>
          <p:nvPr/>
        </p:nvSpPr>
        <p:spPr>
          <a:xfrm>
            <a:off x="508000" y="533400"/>
            <a:ext cx="11201400" cy="923330"/>
          </a:xfrm>
          <a:prstGeom prst="rect">
            <a:avLst/>
          </a:prstGeom>
          <a:solidFill>
            <a:schemeClr val="bg1"/>
          </a:solidFill>
        </p:spPr>
        <p:txBody>
          <a:bodyPr wrap="square" rtlCol="0">
            <a:spAutoFit/>
          </a:bodyPr>
          <a:lstStyle/>
          <a:p>
            <a:r>
              <a:rPr lang="en-CA" sz="5400" b="1"/>
              <a:t>Key outcome measures</a:t>
            </a:r>
          </a:p>
        </p:txBody>
      </p:sp>
      <p:sp>
        <p:nvSpPr>
          <p:cNvPr id="4" name="TextBox 3">
            <a:extLst>
              <a:ext uri="{FF2B5EF4-FFF2-40B4-BE49-F238E27FC236}">
                <a16:creationId xmlns:a16="http://schemas.microsoft.com/office/drawing/2014/main" id="{C1E44044-FEE1-4F4F-A980-F628D99B911A}"/>
              </a:ext>
            </a:extLst>
          </p:cNvPr>
          <p:cNvSpPr txBox="1"/>
          <p:nvPr/>
        </p:nvSpPr>
        <p:spPr>
          <a:xfrm>
            <a:off x="889000" y="2133600"/>
            <a:ext cx="14401800" cy="2031325"/>
          </a:xfrm>
          <a:prstGeom prst="rect">
            <a:avLst/>
          </a:prstGeom>
          <a:noFill/>
        </p:spPr>
        <p:txBody>
          <a:bodyPr wrap="square" rtlCol="0">
            <a:spAutoFit/>
          </a:bodyPr>
          <a:lstStyle/>
          <a:p>
            <a:pPr marL="285750" indent="-285750">
              <a:buFont typeface="Arial" panose="020B0604020202020204" pitchFamily="34" charset="0"/>
              <a:buChar char="•"/>
            </a:pPr>
            <a:r>
              <a:rPr lang="en-CA"/>
              <a:t>Discrimination: the differences in evaluation between the majority group and minority group</a:t>
            </a:r>
          </a:p>
          <a:p>
            <a:pPr marL="742950" lvl="1" indent="-285750">
              <a:buFont typeface="Arial" panose="020B0604020202020204" pitchFamily="34" charset="0"/>
              <a:buChar char="•"/>
            </a:pPr>
            <a:r>
              <a:rPr lang="en-CA"/>
              <a:t>Approach tendency</a:t>
            </a:r>
          </a:p>
          <a:p>
            <a:pPr marL="742950" lvl="1" indent="-285750">
              <a:buFont typeface="Arial" panose="020B0604020202020204" pitchFamily="34" charset="0"/>
              <a:buChar char="•"/>
            </a:pPr>
            <a:r>
              <a:rPr lang="en-CA"/>
              <a:t>Learned probability of the group members giving punishments</a:t>
            </a:r>
          </a:p>
          <a:p>
            <a:pPr marL="285750" indent="-285750">
              <a:buFont typeface="Arial" panose="020B0604020202020204" pitchFamily="34" charset="0"/>
              <a:buChar char="•"/>
            </a:pPr>
            <a:r>
              <a:rPr lang="en-CA"/>
              <a:t>Learning about the individual characteristics of each member in the two groups</a:t>
            </a:r>
          </a:p>
          <a:p>
            <a:pPr marL="742950" lvl="1" indent="-285750">
              <a:buFont typeface="Arial" panose="020B0604020202020204" pitchFamily="34" charset="0"/>
              <a:buChar char="•"/>
            </a:pPr>
            <a:r>
              <a:rPr lang="en-CA"/>
              <a:t>Whether a participant has learned the individual characteristic, specifically who the bad guys are, is operationalized as the difference between the estimated punishment probability &amp; approach tendency of the bad guy and the mean of other good members. </a:t>
            </a:r>
          </a:p>
          <a:p>
            <a:endParaRPr lang="en-CA"/>
          </a:p>
        </p:txBody>
      </p:sp>
    </p:spTree>
    <p:extLst>
      <p:ext uri="{BB962C8B-B14F-4D97-AF65-F5344CB8AC3E}">
        <p14:creationId xmlns:p14="http://schemas.microsoft.com/office/powerpoint/2010/main" val="2718979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90D47-4896-6736-44D3-3C62EB0A30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02DBDF-015B-407D-1347-94374FA255D9}"/>
              </a:ext>
            </a:extLst>
          </p:cNvPr>
          <p:cNvSpPr txBox="1"/>
          <p:nvPr/>
        </p:nvSpPr>
        <p:spPr>
          <a:xfrm>
            <a:off x="507999" y="533400"/>
            <a:ext cx="13029975" cy="923330"/>
          </a:xfrm>
          <a:prstGeom prst="rect">
            <a:avLst/>
          </a:prstGeom>
          <a:solidFill>
            <a:schemeClr val="bg1"/>
          </a:solidFill>
        </p:spPr>
        <p:txBody>
          <a:bodyPr wrap="square" rtlCol="0">
            <a:spAutoFit/>
          </a:bodyPr>
          <a:lstStyle/>
          <a:p>
            <a:r>
              <a:rPr lang="en-CA" sz="5400" b="1"/>
              <a:t>Hypotheses </a:t>
            </a:r>
            <a:r>
              <a:rPr lang="en-CA" sz="5400" b="1">
                <a:solidFill>
                  <a:schemeClr val="bg1">
                    <a:lumMod val="85000"/>
                  </a:schemeClr>
                </a:solidFill>
              </a:rPr>
              <a:t>(from the original proposal) </a:t>
            </a:r>
          </a:p>
        </p:txBody>
      </p:sp>
      <p:graphicFrame>
        <p:nvGraphicFramePr>
          <p:cNvPr id="6" name="Chart 5">
            <a:extLst>
              <a:ext uri="{FF2B5EF4-FFF2-40B4-BE49-F238E27FC236}">
                <a16:creationId xmlns:a16="http://schemas.microsoft.com/office/drawing/2014/main" id="{B3D7E58A-2885-50B1-32C8-DB66ACBD26C0}"/>
              </a:ext>
            </a:extLst>
          </p:cNvPr>
          <p:cNvGraphicFramePr/>
          <p:nvPr>
            <p:extLst>
              <p:ext uri="{D42A27DB-BD31-4B8C-83A1-F6EECF244321}">
                <p14:modId xmlns:p14="http://schemas.microsoft.com/office/powerpoint/2010/main" val="3445378581"/>
              </p:ext>
            </p:extLst>
          </p:nvPr>
        </p:nvGraphicFramePr>
        <p:xfrm>
          <a:off x="9949706" y="3301552"/>
          <a:ext cx="5028651" cy="4463078"/>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5EEC681-4332-667C-11F7-BA259D33498F}"/>
                  </a:ext>
                </a:extLst>
              </p:cNvPr>
              <p:cNvSpPr txBox="1"/>
              <p:nvPr/>
            </p:nvSpPr>
            <p:spPr>
              <a:xfrm>
                <a:off x="507999" y="1600767"/>
                <a:ext cx="7975151" cy="8278741"/>
              </a:xfrm>
              <a:prstGeom prst="rect">
                <a:avLst/>
              </a:prstGeom>
              <a:noFill/>
            </p:spPr>
            <p:txBody>
              <a:bodyPr wrap="square" rtlCol="0">
                <a:spAutoFit/>
              </a:bodyPr>
              <a:lstStyle/>
              <a:p>
                <a:r>
                  <a:rPr lang="en-CA" sz="2400" b="1"/>
                  <a:t>H1: Discrimination ability predicts generalization and group bias</a:t>
                </a:r>
              </a:p>
              <a:p>
                <a:pPr marL="285750" indent="-285750">
                  <a:buFont typeface="Arial" panose="020B0604020202020204" pitchFamily="34" charset="0"/>
                  <a:buChar char="•"/>
                </a:pPr>
                <a:r>
                  <a:rPr lang="en-CA" sz="2000" b="1">
                    <a:highlight>
                      <a:srgbClr val="00FFFF"/>
                    </a:highlight>
                  </a:rPr>
                  <a:t>H1 (primary):</a:t>
                </a:r>
                <a:r>
                  <a:rPr lang="en-CA" sz="2000">
                    <a:highlight>
                      <a:srgbClr val="00FFFF"/>
                    </a:highlight>
                  </a:rPr>
                  <a:t> Participants’ ability to discriminate “good” versus “bad” aliens within each group will predict the extent to which they generalize evaluations to novel aliens from that group.</a:t>
                </a:r>
              </a:p>
              <a:p>
                <a:pPr marL="285750" indent="-285750">
                  <a:buFont typeface="Arial" panose="020B0604020202020204" pitchFamily="34" charset="0"/>
                  <a:buChar char="•"/>
                </a:pPr>
                <a:r>
                  <a:rPr lang="en-CA" sz="2000" b="1"/>
                  <a:t>Operationalization of discrimination ability (within-group):</a:t>
                </a:r>
                <a:endParaRPr lang="en-CA" sz="2000"/>
              </a:p>
              <a:p>
                <a:pPr marL="742950" lvl="1" indent="-285750">
                  <a:buFont typeface="Arial" panose="020B0604020202020204" pitchFamily="34" charset="0"/>
                  <a:buChar char="•"/>
                </a:pPr>
                <a:r>
                  <a:rPr lang="en-CA" sz="2000" b="1"/>
                  <a:t>Approach-based:</a:t>
                </a:r>
                <a:r>
                  <a:rPr lang="en-CA" sz="2000"/>
                  <a:t> </a:t>
                </a:r>
                <a14:m>
                  <m:oMath xmlns:m="http://schemas.openxmlformats.org/officeDocument/2006/math">
                    <m:sSub>
                      <m:sSubPr>
                        <m:ctrlPr>
                          <a:rPr lang="ar-AE" sz="2000" i="1">
                            <a:latin typeface="Cambria Math" panose="02040503050406030204" pitchFamily="18" charset="0"/>
                          </a:rPr>
                        </m:ctrlPr>
                      </m:sSubPr>
                      <m:e>
                        <m:r>
                          <m:rPr>
                            <m:sty m:val="p"/>
                          </m:rPr>
                          <a:rPr lang="el-GR" sz="2000">
                            <a:latin typeface="Cambria Math" panose="02040503050406030204" pitchFamily="18" charset="0"/>
                          </a:rPr>
                          <m:t>Δ</m:t>
                        </m:r>
                      </m:e>
                      <m:sub>
                        <m:r>
                          <m:rPr>
                            <m:nor/>
                          </m:rPr>
                          <a:rPr lang="en-CA" sz="2000" i="1"/>
                          <m:t>disc</m:t>
                        </m:r>
                      </m:sub>
                    </m:sSub>
                    <m:r>
                      <a:rPr lang="ar-AE" sz="2000">
                        <a:latin typeface="Cambria Math" panose="02040503050406030204" pitchFamily="18" charset="0"/>
                      </a:rPr>
                      <m:t>=</m:t>
                    </m:r>
                    <m:r>
                      <m:rPr>
                        <m:nor/>
                      </m:rPr>
                      <a:rPr lang="en-CA" sz="2000" i="1"/>
                      <m:t>Approach</m:t>
                    </m:r>
                    <m:d>
                      <m:dPr>
                        <m:ctrlPr>
                          <a:rPr lang="ar-AE" sz="2000" i="1">
                            <a:latin typeface="Cambria Math" panose="02040503050406030204" pitchFamily="18" charset="0"/>
                          </a:rPr>
                        </m:ctrlPr>
                      </m:dPr>
                      <m:e>
                        <m:r>
                          <a:rPr lang="ar-AE" sz="2000" i="1">
                            <a:latin typeface="Cambria Math" panose="02040503050406030204" pitchFamily="18" charset="0"/>
                          </a:rPr>
                          <m:t>𝐺𝑜𝑜𝑑</m:t>
                        </m:r>
                        <m:r>
                          <m:rPr>
                            <m:lit/>
                          </m:rPr>
                          <a:rPr lang="ar-AE" sz="2000">
                            <a:latin typeface="Cambria Math" panose="02040503050406030204" pitchFamily="18" charset="0"/>
                          </a:rPr>
                          <m:t>_</m:t>
                        </m:r>
                        <m:r>
                          <m:rPr>
                            <m:nor/>
                          </m:rPr>
                          <a:rPr lang="en-CA" sz="2000" i="1"/>
                          <m:t>avg</m:t>
                        </m:r>
                      </m:e>
                    </m:d>
                    <m:r>
                      <a:rPr lang="ar-AE" sz="2000">
                        <a:latin typeface="Cambria Math" panose="02040503050406030204" pitchFamily="18" charset="0"/>
                      </a:rPr>
                      <m:t>−</m:t>
                    </m:r>
                    <m:r>
                      <m:rPr>
                        <m:nor/>
                      </m:rPr>
                      <a:rPr lang="en-CA" sz="2000" i="1"/>
                      <m:t>Approach</m:t>
                    </m:r>
                    <m:d>
                      <m:dPr>
                        <m:ctrlPr>
                          <a:rPr lang="ar-AE" sz="2000" i="1">
                            <a:latin typeface="Cambria Math" panose="02040503050406030204" pitchFamily="18" charset="0"/>
                          </a:rPr>
                        </m:ctrlPr>
                      </m:dPr>
                      <m:e>
                        <m:r>
                          <a:rPr lang="ar-AE" sz="2000" i="1">
                            <a:latin typeface="Cambria Math" panose="02040503050406030204" pitchFamily="18" charset="0"/>
                          </a:rPr>
                          <m:t>𝐵𝑎𝑑</m:t>
                        </m:r>
                      </m:e>
                    </m:d>
                  </m:oMath>
                </a14:m>
                <a:r>
                  <a:rPr lang="ar-AE" sz="2000"/>
                  <a:t>(</a:t>
                </a:r>
                <a:r>
                  <a:rPr lang="en-CA" sz="2000"/>
                  <a:t> computed separately for each group).</a:t>
                </a:r>
              </a:p>
              <a:p>
                <a:pPr marL="742950" lvl="1" indent="-285750">
                  <a:buFont typeface="Arial" panose="020B0604020202020204" pitchFamily="34" charset="0"/>
                  <a:buChar char="•"/>
                </a:pPr>
                <a:r>
                  <a:rPr lang="en-CA" sz="2000" b="1"/>
                  <a:t>Belief-based (alternative):</a:t>
                </a:r>
                <a:r>
                  <a:rPr lang="en-CA" sz="2000"/>
                  <a:t> </a:t>
                </a:r>
                <a14:m>
                  <m:oMath xmlns:m="http://schemas.openxmlformats.org/officeDocument/2006/math">
                    <m:sSub>
                      <m:sSubPr>
                        <m:ctrlPr>
                          <a:rPr lang="ar-AE" sz="2000" i="1">
                            <a:latin typeface="Cambria Math" panose="02040503050406030204" pitchFamily="18" charset="0"/>
                          </a:rPr>
                        </m:ctrlPr>
                      </m:sSubPr>
                      <m:e>
                        <m:r>
                          <m:rPr>
                            <m:sty m:val="p"/>
                          </m:rPr>
                          <a:rPr lang="el-GR" sz="2000">
                            <a:latin typeface="Cambria Math" panose="02040503050406030204" pitchFamily="18" charset="0"/>
                          </a:rPr>
                          <m:t>Δ</m:t>
                        </m:r>
                      </m:e>
                      <m:sub>
                        <m:r>
                          <m:rPr>
                            <m:nor/>
                          </m:rPr>
                          <a:rPr lang="en-CA" sz="2000" i="1"/>
                          <m:t>disc</m:t>
                        </m:r>
                      </m:sub>
                    </m:sSub>
                    <m:r>
                      <a:rPr lang="ar-AE" sz="2000">
                        <a:latin typeface="Cambria Math" panose="02040503050406030204" pitchFamily="18" charset="0"/>
                      </a:rPr>
                      <m:t>=</m:t>
                    </m:r>
                    <m:acc>
                      <m:accPr>
                        <m:chr m:val="̂"/>
                        <m:ctrlPr>
                          <a:rPr lang="ar-AE" sz="2000" i="1">
                            <a:latin typeface="Cambria Math" panose="02040503050406030204" pitchFamily="18" charset="0"/>
                          </a:rPr>
                        </m:ctrlPr>
                      </m:accPr>
                      <m:e>
                        <m:r>
                          <a:rPr lang="ar-AE" sz="2000" i="1">
                            <a:latin typeface="Cambria Math" panose="02040503050406030204" pitchFamily="18" charset="0"/>
                          </a:rPr>
                          <m:t>𝑃</m:t>
                        </m:r>
                      </m:e>
                    </m:acc>
                    <m:d>
                      <m:dPr>
                        <m:ctrlPr>
                          <a:rPr lang="ar-AE" sz="2000" i="1">
                            <a:latin typeface="Cambria Math" panose="02040503050406030204" pitchFamily="18" charset="0"/>
                          </a:rPr>
                        </m:ctrlPr>
                      </m:dPr>
                      <m:e>
                        <m:r>
                          <m:rPr>
                            <m:nor/>
                          </m:rPr>
                          <a:rPr lang="en-CA" sz="2000" i="1"/>
                          <m:t>punishment</m:t>
                        </m:r>
                        <m:r>
                          <a:rPr lang="en-CA" sz="2000">
                            <a:latin typeface="Cambria Math" panose="02040503050406030204" pitchFamily="18" charset="0"/>
                          </a:rPr>
                          <m:t>∣</m:t>
                        </m:r>
                        <m:r>
                          <a:rPr lang="en-CA" sz="2000" i="1">
                            <a:latin typeface="Cambria Math" panose="02040503050406030204" pitchFamily="18" charset="0"/>
                          </a:rPr>
                          <m:t>𝐵𝑎𝑑</m:t>
                        </m:r>
                      </m:e>
                    </m:d>
                    <m:r>
                      <a:rPr lang="ar-AE" sz="2000">
                        <a:latin typeface="Cambria Math" panose="02040503050406030204" pitchFamily="18" charset="0"/>
                      </a:rPr>
                      <m:t>−</m:t>
                    </m:r>
                    <m:acc>
                      <m:accPr>
                        <m:chr m:val="̂"/>
                        <m:ctrlPr>
                          <a:rPr lang="ar-AE" sz="2000" i="1">
                            <a:latin typeface="Cambria Math" panose="02040503050406030204" pitchFamily="18" charset="0"/>
                          </a:rPr>
                        </m:ctrlPr>
                      </m:accPr>
                      <m:e>
                        <m:r>
                          <a:rPr lang="ar-AE" sz="2000" i="1">
                            <a:latin typeface="Cambria Math" panose="02040503050406030204" pitchFamily="18" charset="0"/>
                          </a:rPr>
                          <m:t>𝑃</m:t>
                        </m:r>
                      </m:e>
                    </m:acc>
                    <m:d>
                      <m:dPr>
                        <m:ctrlPr>
                          <a:rPr lang="ar-AE" sz="2000" i="1">
                            <a:latin typeface="Cambria Math" panose="02040503050406030204" pitchFamily="18" charset="0"/>
                          </a:rPr>
                        </m:ctrlPr>
                      </m:dPr>
                      <m:e>
                        <m:r>
                          <m:rPr>
                            <m:nor/>
                          </m:rPr>
                          <a:rPr lang="en-CA" sz="2000" i="1"/>
                          <m:t>punishment</m:t>
                        </m:r>
                        <m:r>
                          <a:rPr lang="en-CA" sz="2000">
                            <a:latin typeface="Cambria Math" panose="02040503050406030204" pitchFamily="18" charset="0"/>
                          </a:rPr>
                          <m:t>∣</m:t>
                        </m:r>
                        <m:r>
                          <a:rPr lang="en-CA" sz="2000" i="1">
                            <a:latin typeface="Cambria Math" panose="02040503050406030204" pitchFamily="18" charset="0"/>
                          </a:rPr>
                          <m:t>𝐺𝑜𝑜𝑑</m:t>
                        </m:r>
                        <m:r>
                          <m:rPr>
                            <m:lit/>
                          </m:rPr>
                          <a:rPr lang="en-CA" sz="2000">
                            <a:latin typeface="Cambria Math" panose="02040503050406030204" pitchFamily="18" charset="0"/>
                          </a:rPr>
                          <m:t>_</m:t>
                        </m:r>
                        <m:r>
                          <m:rPr>
                            <m:nor/>
                          </m:rPr>
                          <a:rPr lang="en-CA" sz="2000" i="1"/>
                          <m:t>avg</m:t>
                        </m:r>
                      </m:e>
                    </m:d>
                  </m:oMath>
                </a14:m>
                <a:r>
                  <a:rPr lang="ar-AE" sz="2000"/>
                  <a:t>(</a:t>
                </a:r>
                <a:r>
                  <a:rPr lang="en-CA" sz="2000"/>
                  <a:t>also computed separately for each group).</a:t>
                </a:r>
              </a:p>
              <a:p>
                <a:pPr marL="742950" lvl="1" indent="-285750">
                  <a:buFont typeface="Arial" panose="020B0604020202020204" pitchFamily="34" charset="0"/>
                  <a:buChar char="•"/>
                </a:pPr>
                <a:r>
                  <a:rPr lang="en-CA" sz="2000" b="1"/>
                  <a:t>Exploratory:</a:t>
                </a:r>
                <a:r>
                  <a:rPr lang="en-CA" sz="2000"/>
                  <a:t> Confidence in ratings for the bad aliens (e.g., higher confidence or lower uncertainty for identifying the bad alien).</a:t>
                </a:r>
              </a:p>
              <a:p>
                <a:pPr marL="285750" indent="-285750">
                  <a:buFont typeface="Arial" panose="020B0604020202020204" pitchFamily="34" charset="0"/>
                  <a:buChar char="•"/>
                </a:pPr>
                <a:r>
                  <a:rPr lang="en-CA" sz="2000" b="1"/>
                  <a:t>Operationalization of group bias (generalization to novel aliens):</a:t>
                </a:r>
                <a:endParaRPr lang="en-CA" sz="2000"/>
              </a:p>
              <a:p>
                <a:pPr marL="742950" lvl="1" indent="-285750">
                  <a:buFont typeface="Arial" panose="020B0604020202020204" pitchFamily="34" charset="0"/>
                  <a:buChar char="•"/>
                </a:pPr>
                <a14:m>
                  <m:oMath xmlns:m="http://schemas.openxmlformats.org/officeDocument/2006/math">
                    <m:sSub>
                      <m:sSubPr>
                        <m:ctrlPr>
                          <a:rPr lang="ar-AE" sz="2000" i="1">
                            <a:latin typeface="Cambria Math" panose="02040503050406030204" pitchFamily="18" charset="0"/>
                          </a:rPr>
                        </m:ctrlPr>
                      </m:sSubPr>
                      <m:e>
                        <m:r>
                          <m:rPr>
                            <m:nor/>
                          </m:rPr>
                          <a:rPr lang="en-CA" sz="2000" b="0"/>
                          <m:t>Bias</m:t>
                        </m:r>
                      </m:e>
                      <m:sub>
                        <m:r>
                          <m:rPr>
                            <m:nor/>
                          </m:rPr>
                          <a:rPr lang="en-CA" sz="2000" b="0" i="1"/>
                          <m:t>novel</m:t>
                        </m:r>
                      </m:sub>
                    </m:sSub>
                    <m:r>
                      <a:rPr lang="ar-AE" sz="2000">
                        <a:latin typeface="Cambria Math" panose="02040503050406030204" pitchFamily="18" charset="0"/>
                      </a:rPr>
                      <m:t>=</m:t>
                    </m:r>
                    <m:r>
                      <m:rPr>
                        <m:nor/>
                      </m:rPr>
                      <a:rPr lang="en-CA" sz="2000" i="1"/>
                      <m:t>Approach</m:t>
                    </m:r>
                    <m:d>
                      <m:dPr>
                        <m:ctrlPr>
                          <a:rPr lang="ar-AE" sz="2000" i="1">
                            <a:latin typeface="Cambria Math" panose="02040503050406030204" pitchFamily="18" charset="0"/>
                          </a:rPr>
                        </m:ctrlPr>
                      </m:dPr>
                      <m:e>
                        <m:r>
                          <m:rPr>
                            <m:nor/>
                          </m:rPr>
                          <a:rPr lang="en-CA" sz="2000" i="1"/>
                          <m:t>Novel</m:t>
                        </m:r>
                        <m:r>
                          <m:rPr>
                            <m:nor/>
                          </m:rPr>
                          <a:rPr lang="en-CA" sz="2000" i="1"/>
                          <m:t> </m:t>
                        </m:r>
                        <m:r>
                          <m:rPr>
                            <m:nor/>
                          </m:rPr>
                          <a:rPr lang="en-CA" sz="2000" i="1"/>
                          <m:t>Majority</m:t>
                        </m:r>
                      </m:e>
                    </m:d>
                    <m:r>
                      <a:rPr lang="ar-AE" sz="2000">
                        <a:latin typeface="Cambria Math" panose="02040503050406030204" pitchFamily="18" charset="0"/>
                      </a:rPr>
                      <m:t>−</m:t>
                    </m:r>
                    <m:r>
                      <m:rPr>
                        <m:nor/>
                      </m:rPr>
                      <a:rPr lang="en-CA" sz="2000" i="1"/>
                      <m:t>Approach</m:t>
                    </m:r>
                    <m:d>
                      <m:dPr>
                        <m:ctrlPr>
                          <a:rPr lang="ar-AE" sz="2000" i="1">
                            <a:latin typeface="Cambria Math" panose="02040503050406030204" pitchFamily="18" charset="0"/>
                          </a:rPr>
                        </m:ctrlPr>
                      </m:dPr>
                      <m:e>
                        <m:r>
                          <m:rPr>
                            <m:nor/>
                          </m:rPr>
                          <a:rPr lang="en-CA" sz="2000" i="1"/>
                          <m:t>Novel</m:t>
                        </m:r>
                        <m:r>
                          <m:rPr>
                            <m:nor/>
                          </m:rPr>
                          <a:rPr lang="en-CA" sz="2000" i="1"/>
                          <m:t> </m:t>
                        </m:r>
                        <m:r>
                          <m:rPr>
                            <m:nor/>
                          </m:rPr>
                          <a:rPr lang="en-CA" sz="2000" i="1"/>
                          <m:t>Minority</m:t>
                        </m:r>
                      </m:e>
                    </m:d>
                  </m:oMath>
                </a14:m>
                <a:endParaRPr lang="ar-AE" sz="2000"/>
              </a:p>
              <a:p>
                <a:pPr marL="285750" indent="-285750">
                  <a:buFont typeface="Arial" panose="020B0604020202020204" pitchFamily="34" charset="0"/>
                  <a:buChar char="•"/>
                </a:pPr>
                <a:r>
                  <a:rPr lang="en-CA" sz="2000" b="1"/>
                  <a:t>H1a (condition effect):</a:t>
                </a:r>
                <a:r>
                  <a:rPr lang="en-CA" sz="2000"/>
                  <a:t> </a:t>
                </a:r>
                <a:r>
                  <a:rPr lang="en-CA" sz="2000">
                    <a:highlight>
                      <a:srgbClr val="00FFFF"/>
                    </a:highlight>
                  </a:rPr>
                  <a:t>Participants in the experimental condition will show greater group bias toward novel aliens than participants in the control condition.</a:t>
                </a:r>
              </a:p>
              <a:p>
                <a:pPr marL="285750" indent="-285750">
                  <a:buFont typeface="Arial" panose="020B0604020202020204" pitchFamily="34" charset="0"/>
                  <a:buChar char="•"/>
                </a:pPr>
                <a:r>
                  <a:rPr lang="en-CA" sz="2000" b="1"/>
                  <a:t>H1b (mediation):</a:t>
                </a:r>
                <a:r>
                  <a:rPr lang="en-CA" sz="2000"/>
                  <a:t> </a:t>
                </a:r>
                <a:r>
                  <a:rPr lang="en-CA" sz="2000">
                    <a:highlight>
                      <a:srgbClr val="00FFFF"/>
                    </a:highlight>
                  </a:rPr>
                  <a:t>The condition effect on group bias will be mediated by </a:t>
                </a:r>
                <a:r>
                  <a:rPr lang="en-CA" sz="2000" b="1">
                    <a:highlight>
                      <a:srgbClr val="00FFFF"/>
                    </a:highlight>
                  </a:rPr>
                  <a:t>asymmetric discrimination ability across groups</a:t>
                </a:r>
                <a:r>
                  <a:rPr lang="en-CA" sz="2000">
                    <a:highlight>
                      <a:srgbClr val="00FFFF"/>
                    </a:highlight>
                  </a:rPr>
                  <a:t>, operationalized as:</a:t>
                </a:r>
              </a:p>
              <a:p>
                <a:pPr/>
                <a14:m>
                  <m:oMathPara xmlns:m="http://schemas.openxmlformats.org/officeDocument/2006/math">
                    <m:oMathParaPr>
                      <m:jc m:val="centerGroup"/>
                    </m:oMathParaPr>
                    <m:oMath xmlns:m="http://schemas.openxmlformats.org/officeDocument/2006/math">
                      <m:sSub>
                        <m:sSubPr>
                          <m:ctrlPr>
                            <a:rPr lang="ar-AE" sz="2000" i="1">
                              <a:highlight>
                                <a:srgbClr val="00FFFF"/>
                              </a:highlight>
                              <a:latin typeface="Cambria Math" panose="02040503050406030204" pitchFamily="18" charset="0"/>
                            </a:rPr>
                          </m:ctrlPr>
                        </m:sSubPr>
                        <m:e>
                          <m:r>
                            <m:rPr>
                              <m:sty m:val="p"/>
                            </m:rPr>
                            <a:rPr lang="el-GR" sz="2000">
                              <a:highlight>
                                <a:srgbClr val="00FFFF"/>
                              </a:highlight>
                              <a:latin typeface="Cambria Math" panose="02040503050406030204" pitchFamily="18" charset="0"/>
                            </a:rPr>
                            <m:t>Δ</m:t>
                          </m:r>
                        </m:e>
                        <m:sub>
                          <m:r>
                            <m:rPr>
                              <m:nor/>
                            </m:rPr>
                            <a:rPr lang="en-CA" sz="2000" i="1">
                              <a:highlight>
                                <a:srgbClr val="00FFFF"/>
                              </a:highlight>
                            </a:rPr>
                            <m:t>disc</m:t>
                          </m:r>
                          <m:r>
                            <m:rPr>
                              <m:nor/>
                            </m:rPr>
                            <a:rPr lang="en-CA" sz="2000" i="1">
                              <a:highlight>
                                <a:srgbClr val="00FFFF"/>
                              </a:highlight>
                            </a:rPr>
                            <m:t>−</m:t>
                          </m:r>
                          <m:r>
                            <m:rPr>
                              <m:nor/>
                            </m:rPr>
                            <a:rPr lang="en-CA" sz="2000" i="1">
                              <a:highlight>
                                <a:srgbClr val="00FFFF"/>
                              </a:highlight>
                            </a:rPr>
                            <m:t>asym</m:t>
                          </m:r>
                        </m:sub>
                      </m:sSub>
                      <m:r>
                        <a:rPr lang="ar-AE" sz="2000">
                          <a:highlight>
                            <a:srgbClr val="00FFFF"/>
                          </a:highlight>
                          <a:latin typeface="Cambria Math" panose="02040503050406030204" pitchFamily="18" charset="0"/>
                        </a:rPr>
                        <m:t>=</m:t>
                      </m:r>
                      <m:sSub>
                        <m:sSubPr>
                          <m:ctrlPr>
                            <a:rPr lang="ar-AE" sz="2000" i="1">
                              <a:highlight>
                                <a:srgbClr val="00FFFF"/>
                              </a:highlight>
                              <a:latin typeface="Cambria Math" panose="02040503050406030204" pitchFamily="18" charset="0"/>
                            </a:rPr>
                          </m:ctrlPr>
                        </m:sSubPr>
                        <m:e>
                          <m:r>
                            <m:rPr>
                              <m:sty m:val="p"/>
                            </m:rPr>
                            <a:rPr lang="el-GR" sz="2000">
                              <a:highlight>
                                <a:srgbClr val="00FFFF"/>
                              </a:highlight>
                              <a:latin typeface="Cambria Math" panose="02040503050406030204" pitchFamily="18" charset="0"/>
                            </a:rPr>
                            <m:t>Δ</m:t>
                          </m:r>
                        </m:e>
                        <m:sub>
                          <m:r>
                            <m:rPr>
                              <m:nor/>
                            </m:rPr>
                            <a:rPr lang="en-CA" sz="2000" i="1">
                              <a:highlight>
                                <a:srgbClr val="00FFFF"/>
                              </a:highlight>
                            </a:rPr>
                            <m:t>disc</m:t>
                          </m:r>
                          <m:r>
                            <m:rPr>
                              <m:nor/>
                            </m:rPr>
                            <a:rPr lang="en-CA" sz="2000" i="1">
                              <a:highlight>
                                <a:srgbClr val="00FFFF"/>
                              </a:highlight>
                            </a:rPr>
                            <m:t>,</m:t>
                          </m:r>
                          <m:r>
                            <m:rPr>
                              <m:nor/>
                            </m:rPr>
                            <a:rPr lang="en-CA" sz="2000" i="1">
                              <a:highlight>
                                <a:srgbClr val="00FFFF"/>
                              </a:highlight>
                            </a:rPr>
                            <m:t>Majority</m:t>
                          </m:r>
                        </m:sub>
                      </m:sSub>
                      <m:r>
                        <a:rPr lang="ar-AE" sz="2000">
                          <a:highlight>
                            <a:srgbClr val="00FFFF"/>
                          </a:highlight>
                          <a:latin typeface="Cambria Math" panose="02040503050406030204" pitchFamily="18" charset="0"/>
                        </a:rPr>
                        <m:t>−</m:t>
                      </m:r>
                      <m:sSub>
                        <m:sSubPr>
                          <m:ctrlPr>
                            <a:rPr lang="ar-AE" sz="2000" i="1">
                              <a:highlight>
                                <a:srgbClr val="00FFFF"/>
                              </a:highlight>
                              <a:latin typeface="Cambria Math" panose="02040503050406030204" pitchFamily="18" charset="0"/>
                            </a:rPr>
                          </m:ctrlPr>
                        </m:sSubPr>
                        <m:e>
                          <m:r>
                            <m:rPr>
                              <m:sty m:val="p"/>
                            </m:rPr>
                            <a:rPr lang="el-GR" sz="2000">
                              <a:highlight>
                                <a:srgbClr val="00FFFF"/>
                              </a:highlight>
                              <a:latin typeface="Cambria Math" panose="02040503050406030204" pitchFamily="18" charset="0"/>
                            </a:rPr>
                            <m:t>Δ</m:t>
                          </m:r>
                        </m:e>
                        <m:sub>
                          <m:r>
                            <m:rPr>
                              <m:nor/>
                            </m:rPr>
                            <a:rPr lang="en-CA" sz="2000" i="1">
                              <a:highlight>
                                <a:srgbClr val="00FFFF"/>
                              </a:highlight>
                            </a:rPr>
                            <m:t>disc</m:t>
                          </m:r>
                          <m:r>
                            <m:rPr>
                              <m:nor/>
                            </m:rPr>
                            <a:rPr lang="en-CA" sz="2000" i="1">
                              <a:highlight>
                                <a:srgbClr val="00FFFF"/>
                              </a:highlight>
                            </a:rPr>
                            <m:t>,</m:t>
                          </m:r>
                          <m:r>
                            <m:rPr>
                              <m:nor/>
                            </m:rPr>
                            <a:rPr lang="en-CA" sz="2000" i="1">
                              <a:highlight>
                                <a:srgbClr val="00FFFF"/>
                              </a:highlight>
                            </a:rPr>
                            <m:t>Minority</m:t>
                          </m:r>
                        </m:sub>
                      </m:sSub>
                    </m:oMath>
                  </m:oMathPara>
                </a14:m>
                <a:br>
                  <a:rPr lang="ar-AE" sz="2000">
                    <a:highlight>
                      <a:srgbClr val="00FFFF"/>
                    </a:highlight>
                  </a:rPr>
                </a:br>
                <a:r>
                  <a:rPr lang="en-CA" sz="2000">
                    <a:highlight>
                      <a:srgbClr val="00FFFF"/>
                    </a:highlight>
                  </a:rPr>
                  <a:t>such that larger asymmetry predicts stronger </a:t>
                </a:r>
                <a14:m>
                  <m:oMath xmlns:m="http://schemas.openxmlformats.org/officeDocument/2006/math">
                    <m:sSub>
                      <m:sSubPr>
                        <m:ctrlPr>
                          <a:rPr lang="ar-AE" sz="2000" i="1">
                            <a:highlight>
                              <a:srgbClr val="00FFFF"/>
                            </a:highlight>
                            <a:latin typeface="Cambria Math" panose="02040503050406030204" pitchFamily="18" charset="0"/>
                          </a:rPr>
                        </m:ctrlPr>
                      </m:sSubPr>
                      <m:e>
                        <m:r>
                          <m:rPr>
                            <m:nor/>
                          </m:rPr>
                          <a:rPr lang="en-CA" sz="2000" b="0">
                            <a:highlight>
                              <a:srgbClr val="00FFFF"/>
                            </a:highlight>
                          </a:rPr>
                          <m:t>Bias</m:t>
                        </m:r>
                      </m:e>
                      <m:sub>
                        <m:r>
                          <m:rPr>
                            <m:nor/>
                          </m:rPr>
                          <a:rPr lang="en-CA" sz="2000" b="0" i="1">
                            <a:highlight>
                              <a:srgbClr val="00FFFF"/>
                            </a:highlight>
                          </a:rPr>
                          <m:t>novel</m:t>
                        </m:r>
                      </m:sub>
                    </m:sSub>
                  </m:oMath>
                </a14:m>
                <a:r>
                  <a:rPr lang="ar-AE" sz="2000">
                    <a:highlight>
                      <a:srgbClr val="00FFFF"/>
                    </a:highlight>
                  </a:rPr>
                  <a:t>.</a:t>
                </a:r>
              </a:p>
              <a:p>
                <a:pPr marL="285750" indent="-285750">
                  <a:buFont typeface="Arial" panose="020B0604020202020204" pitchFamily="34" charset="0"/>
                  <a:buChar char="•"/>
                </a:pPr>
                <a:endParaRPr lang="en-CA"/>
              </a:p>
              <a:p>
                <a:pPr marL="285750" indent="-285750">
                  <a:buFont typeface="Arial" panose="020B0604020202020204" pitchFamily="34" charset="0"/>
                  <a:buChar char="•"/>
                </a:pPr>
                <a:endParaRPr lang="en-CA"/>
              </a:p>
              <a:p>
                <a:pPr marL="285750" indent="-285750">
                  <a:buFont typeface="Arial" panose="020B0604020202020204" pitchFamily="34" charset="0"/>
                  <a:buChar char="•"/>
                </a:pPr>
                <a:endParaRPr lang="en-CA"/>
              </a:p>
            </p:txBody>
          </p:sp>
        </mc:Choice>
        <mc:Fallback xmlns="">
          <p:sp>
            <p:nvSpPr>
              <p:cNvPr id="3" name="TextBox 2">
                <a:extLst>
                  <a:ext uri="{FF2B5EF4-FFF2-40B4-BE49-F238E27FC236}">
                    <a16:creationId xmlns:a16="http://schemas.microsoft.com/office/drawing/2014/main" id="{D5EEC681-4332-667C-11F7-BA259D33498F}"/>
                  </a:ext>
                </a:extLst>
              </p:cNvPr>
              <p:cNvSpPr txBox="1">
                <a:spLocks noRot="1" noChangeAspect="1" noMove="1" noResize="1" noEditPoints="1" noAdjustHandles="1" noChangeArrowheads="1" noChangeShapeType="1" noTextEdit="1"/>
              </p:cNvSpPr>
              <p:nvPr/>
            </p:nvSpPr>
            <p:spPr>
              <a:xfrm>
                <a:off x="507999" y="1600767"/>
                <a:ext cx="7975151" cy="8278741"/>
              </a:xfrm>
              <a:prstGeom prst="rect">
                <a:avLst/>
              </a:prstGeom>
              <a:blipFill>
                <a:blip r:embed="rId3"/>
                <a:stretch>
                  <a:fillRect l="-1146" t="-589" r="-764"/>
                </a:stretch>
              </a:blipFill>
            </p:spPr>
            <p:txBody>
              <a:bodyPr/>
              <a:lstStyle/>
              <a:p>
                <a:r>
                  <a:rPr lang="en-US">
                    <a:noFill/>
                  </a:rPr>
                  <a:t> </a:t>
                </a:r>
              </a:p>
            </p:txBody>
          </p:sp>
        </mc:Fallback>
      </mc:AlternateContent>
    </p:spTree>
    <p:extLst>
      <p:ext uri="{BB962C8B-B14F-4D97-AF65-F5344CB8AC3E}">
        <p14:creationId xmlns:p14="http://schemas.microsoft.com/office/powerpoint/2010/main" val="687530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37F16-D74B-FF38-1704-F298BE77B9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CAA8FF-128C-8CE8-FB0E-8B60A7AD38CF}"/>
              </a:ext>
            </a:extLst>
          </p:cNvPr>
          <p:cNvSpPr txBox="1"/>
          <p:nvPr/>
        </p:nvSpPr>
        <p:spPr>
          <a:xfrm>
            <a:off x="508000" y="533400"/>
            <a:ext cx="11201400" cy="923330"/>
          </a:xfrm>
          <a:prstGeom prst="rect">
            <a:avLst/>
          </a:prstGeom>
          <a:solidFill>
            <a:schemeClr val="bg1"/>
          </a:solidFill>
        </p:spPr>
        <p:txBody>
          <a:bodyPr wrap="square" rtlCol="0">
            <a:spAutoFit/>
          </a:bodyPr>
          <a:lstStyle/>
          <a:p>
            <a:r>
              <a:rPr lang="en-CA" sz="5400" b="1"/>
              <a:t>Hypotheses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AB45DDE-4988-B69F-F5D1-6CBCA6881CD2}"/>
                  </a:ext>
                </a:extLst>
              </p:cNvPr>
              <p:cNvSpPr txBox="1"/>
              <p:nvPr/>
            </p:nvSpPr>
            <p:spPr>
              <a:xfrm>
                <a:off x="812801" y="1981200"/>
                <a:ext cx="15011400" cy="6124754"/>
              </a:xfrm>
              <a:prstGeom prst="rect">
                <a:avLst/>
              </a:prstGeom>
              <a:noFill/>
            </p:spPr>
            <p:txBody>
              <a:bodyPr wrap="square" rtlCol="0">
                <a:spAutoFit/>
              </a:bodyPr>
              <a:lstStyle/>
              <a:p>
                <a:r>
                  <a:rPr lang="en-CA" sz="2800" b="1"/>
                  <a:t>H2: Approach behavior in Phase 1 reflects goodness, history, group exposure, and condition</a:t>
                </a:r>
              </a:p>
              <a:p>
                <a:endParaRPr lang="en-CA" sz="2800" b="1"/>
              </a:p>
              <a:p>
                <a:r>
                  <a:rPr lang="en-CA" sz="2800"/>
                  <a:t>During Phase 1, the probability of approaching an alien will depend on </a:t>
                </a:r>
              </a:p>
              <a:p>
                <a:pPr marL="400050" indent="-400050">
                  <a:buAutoNum type="romanLcParenBoth"/>
                </a:pPr>
                <a:r>
                  <a:rPr lang="en-CA" sz="2800"/>
                  <a:t>the alien’s actual goodness, </a:t>
                </a:r>
              </a:p>
              <a:p>
                <a:pPr marL="400050" indent="-400050">
                  <a:buAutoNum type="romanLcParenBoth"/>
                </a:pPr>
                <a:r>
                  <a:rPr lang="en-CA" sz="2800"/>
                  <a:t>the participant’s prior interaction history with that alien, </a:t>
                </a:r>
              </a:p>
              <a:p>
                <a:pPr marL="400050" indent="-400050">
                  <a:buAutoNum type="romanLcParenBoth"/>
                </a:pPr>
                <a:r>
                  <a:rPr lang="en-CA" sz="2800"/>
                  <a:t>the participant’s cumulative exposure imbalance across groups, and </a:t>
                </a:r>
              </a:p>
              <a:p>
                <a:pPr marL="400050" indent="-400050">
                  <a:buAutoNum type="romanLcParenBoth"/>
                </a:pPr>
                <a:r>
                  <a:rPr lang="en-CA" sz="2800"/>
                  <a:t>experimental condition</a:t>
                </a:r>
              </a:p>
              <a:p>
                <a:endParaRPr lang="en-CA" sz="2800"/>
              </a:p>
              <a:p>
                <a:r>
                  <a:rPr lang="en-CA" sz="2800"/>
                  <a:t>Concretely, we predict </a:t>
                </a:r>
                <a14:m>
                  <m:oMath xmlns:m="http://schemas.openxmlformats.org/officeDocument/2006/math">
                    <m:r>
                      <a:rPr lang="en-CA" sz="2800" i="1">
                        <a:latin typeface="Cambria Math" panose="02040503050406030204" pitchFamily="18" charset="0"/>
                      </a:rPr>
                      <m:t>𝑃</m:t>
                    </m:r>
                    <m:d>
                      <m:dPr>
                        <m:ctrlPr>
                          <a:rPr lang="ar-AE" sz="2800" i="1">
                            <a:latin typeface="Cambria Math" panose="02040503050406030204" pitchFamily="18" charset="0"/>
                          </a:rPr>
                        </m:ctrlPr>
                      </m:dPr>
                      <m:e>
                        <m:r>
                          <m:rPr>
                            <m:nor/>
                          </m:rPr>
                          <a:rPr lang="en-CA" sz="2800" i="1"/>
                          <m:t>approach</m:t>
                        </m:r>
                      </m:e>
                    </m:d>
                  </m:oMath>
                </a14:m>
                <a:r>
                  <a:rPr lang="en-CA" sz="2800"/>
                  <a:t>increases with:</a:t>
                </a:r>
              </a:p>
              <a:p>
                <a:pPr marL="400050" indent="-400050">
                  <a:buFont typeface="+mj-lt"/>
                  <a:buAutoNum type="romanUcPeriod"/>
                </a:pPr>
                <a:r>
                  <a:rPr lang="en-CA" sz="2800"/>
                  <a:t>higher actual goodness,</a:t>
                </a:r>
              </a:p>
              <a:p>
                <a:pPr marL="400050" indent="-400050">
                  <a:buFont typeface="+mj-lt"/>
                  <a:buAutoNum type="romanUcPeriod"/>
                </a:pPr>
                <a:r>
                  <a:rPr lang="en-CA" sz="2800"/>
                  <a:t>more prior approaches to that alien (history/recency/learning),</a:t>
                </a:r>
                <a:br>
                  <a:rPr lang="en-CA" sz="2800"/>
                </a:br>
                <a:r>
                  <a:rPr lang="en-CA" sz="2800"/>
                  <a:t>and varies as a function of:</a:t>
                </a:r>
              </a:p>
              <a:p>
                <a:pPr marL="400050" indent="-400050">
                  <a:buFont typeface="+mj-lt"/>
                  <a:buAutoNum type="romanUcPeriod"/>
                </a:pPr>
                <a:r>
                  <a:rPr lang="en-CA" sz="2800"/>
                  <a:t>the ratio of approaches to majority vs. minority aliens (exposure imbalance),</a:t>
                </a:r>
              </a:p>
              <a:p>
                <a:pPr marL="400050" indent="-400050">
                  <a:buFont typeface="+mj-lt"/>
                  <a:buAutoNum type="romanUcPeriod"/>
                </a:pPr>
                <a:r>
                  <a:rPr lang="en-CA" sz="2800"/>
                  <a:t>condition (and its interactions with exposure imbalance and/or goodness).</a:t>
                </a:r>
              </a:p>
            </p:txBody>
          </p:sp>
        </mc:Choice>
        <mc:Fallback xmlns="">
          <p:sp>
            <p:nvSpPr>
              <p:cNvPr id="3" name="TextBox 2">
                <a:extLst>
                  <a:ext uri="{FF2B5EF4-FFF2-40B4-BE49-F238E27FC236}">
                    <a16:creationId xmlns:a16="http://schemas.microsoft.com/office/drawing/2014/main" id="{FAB45DDE-4988-B69F-F5D1-6CBCA6881CD2}"/>
                  </a:ext>
                </a:extLst>
              </p:cNvPr>
              <p:cNvSpPr txBox="1">
                <a:spLocks noRot="1" noChangeAspect="1" noMove="1" noResize="1" noEditPoints="1" noAdjustHandles="1" noChangeArrowheads="1" noChangeShapeType="1" noTextEdit="1"/>
              </p:cNvSpPr>
              <p:nvPr/>
            </p:nvSpPr>
            <p:spPr>
              <a:xfrm>
                <a:off x="812801" y="1981200"/>
                <a:ext cx="15011400" cy="6124754"/>
              </a:xfrm>
              <a:prstGeom prst="rect">
                <a:avLst/>
              </a:prstGeom>
              <a:blipFill>
                <a:blip r:embed="rId2"/>
                <a:stretch>
                  <a:fillRect l="-853" t="-896" b="-1891"/>
                </a:stretch>
              </a:blipFill>
            </p:spPr>
            <p:txBody>
              <a:bodyPr/>
              <a:lstStyle/>
              <a:p>
                <a:r>
                  <a:rPr lang="en-US">
                    <a:noFill/>
                  </a:rPr>
                  <a:t> </a:t>
                </a:r>
              </a:p>
            </p:txBody>
          </p:sp>
        </mc:Fallback>
      </mc:AlternateContent>
    </p:spTree>
    <p:extLst>
      <p:ext uri="{BB962C8B-B14F-4D97-AF65-F5344CB8AC3E}">
        <p14:creationId xmlns:p14="http://schemas.microsoft.com/office/powerpoint/2010/main" val="1358509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3C734E0-1354-F26B-8B70-A0E698801B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813875-92EF-1874-BD0B-B75A15C8F2B8}"/>
              </a:ext>
            </a:extLst>
          </p:cNvPr>
          <p:cNvSpPr txBox="1"/>
          <p:nvPr/>
        </p:nvSpPr>
        <p:spPr>
          <a:xfrm>
            <a:off x="508000" y="533400"/>
            <a:ext cx="11201400" cy="923330"/>
          </a:xfrm>
          <a:prstGeom prst="rect">
            <a:avLst/>
          </a:prstGeom>
          <a:solidFill>
            <a:schemeClr val="bg1"/>
          </a:solidFill>
        </p:spPr>
        <p:txBody>
          <a:bodyPr wrap="square" rtlCol="0">
            <a:spAutoFit/>
          </a:bodyPr>
          <a:lstStyle/>
          <a:p>
            <a:r>
              <a:rPr lang="en-CA" sz="5400" b="1"/>
              <a:t>Hypotheses</a:t>
            </a:r>
          </a:p>
        </p:txBody>
      </p:sp>
      <p:graphicFrame>
        <p:nvGraphicFramePr>
          <p:cNvPr id="6" name="Chart 5">
            <a:extLst>
              <a:ext uri="{FF2B5EF4-FFF2-40B4-BE49-F238E27FC236}">
                <a16:creationId xmlns:a16="http://schemas.microsoft.com/office/drawing/2014/main" id="{AF372792-1DE1-C9A8-A592-FE023EBFDE88}"/>
              </a:ext>
            </a:extLst>
          </p:cNvPr>
          <p:cNvGraphicFramePr/>
          <p:nvPr/>
        </p:nvGraphicFramePr>
        <p:xfrm>
          <a:off x="10524241" y="5379156"/>
          <a:ext cx="5715000" cy="3764844"/>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92B6BE77-7B4B-CD4F-0255-E4DDE264C3E6}"/>
              </a:ext>
            </a:extLst>
          </p:cNvPr>
          <p:cNvSpPr txBox="1"/>
          <p:nvPr/>
        </p:nvSpPr>
        <p:spPr>
          <a:xfrm>
            <a:off x="812801" y="1981200"/>
            <a:ext cx="15011400" cy="6740307"/>
          </a:xfrm>
          <a:prstGeom prst="rect">
            <a:avLst/>
          </a:prstGeom>
          <a:noFill/>
        </p:spPr>
        <p:txBody>
          <a:bodyPr wrap="square" rtlCol="0">
            <a:spAutoFit/>
          </a:bodyPr>
          <a:lstStyle/>
          <a:p>
            <a:pPr marL="285750" indent="-285750">
              <a:buFont typeface="Arial" panose="020B0604020202020204" pitchFamily="34" charset="0"/>
              <a:buChar char="•"/>
            </a:pPr>
            <a:r>
              <a:rPr lang="en-US"/>
              <a:t>Participants’ ability to accurately identify the “good” and “bad” aliens within each group will predict the extent to which they generalize evaluations to novel aliens from those groups.</a:t>
            </a:r>
          </a:p>
          <a:p>
            <a:pPr marL="742950" lvl="1" indent="-285750">
              <a:buFont typeface="Arial" panose="020B0604020202020204" pitchFamily="34" charset="0"/>
              <a:buChar char="•"/>
            </a:pPr>
            <a:r>
              <a:rPr lang="en-CA"/>
              <a:t>Ability to discriminate good vs. bad would be operationalized as the difference between the approach tendency between the bad targets and average of good targets. Can also be operationalized using estimated punishment probability.</a:t>
            </a:r>
          </a:p>
          <a:p>
            <a:pPr marL="742950" lvl="1" indent="-285750">
              <a:buFont typeface="Arial" panose="020B0604020202020204" pitchFamily="34" charset="0"/>
              <a:buChar char="•"/>
            </a:pPr>
            <a:endParaRPr lang="en-CA"/>
          </a:p>
          <a:p>
            <a:pPr marL="285750" indent="-285750">
              <a:buFont typeface="Arial" panose="020B0604020202020204" pitchFamily="34" charset="0"/>
              <a:buChar char="•"/>
            </a:pPr>
            <a:endParaRPr lang="en-CA"/>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a:t>Unequal interaction opportunities would lead to discrimination towards majority group, because </a:t>
            </a:r>
          </a:p>
          <a:p>
            <a:pPr marL="742950" lvl="1" indent="-285750">
              <a:buFont typeface="Arial" panose="020B0604020202020204" pitchFamily="34" charset="0"/>
              <a:buChar char="•"/>
            </a:pPr>
            <a:r>
              <a:rPr lang="en-CA"/>
              <a:t>If choose randomly every trial, the confidence for majority group would be higher, even with the same mean</a:t>
            </a:r>
          </a:p>
          <a:p>
            <a:pPr marL="742950" lvl="1" indent="-285750">
              <a:buFont typeface="Arial" panose="020B0604020202020204" pitchFamily="34" charset="0"/>
              <a:buChar char="•"/>
            </a:pPr>
            <a:r>
              <a:rPr lang="en-CA"/>
              <a:t>When allowed to choose voluntarily, participants are more likely to develop reinforcing loop of majority bias because they have larger chance to encounter majority group members</a:t>
            </a:r>
          </a:p>
          <a:p>
            <a:pPr marL="285750" indent="-285750">
              <a:buFont typeface="Arial" panose="020B0604020202020204" pitchFamily="34" charset="0"/>
              <a:buChar char="•"/>
            </a:pPr>
            <a:r>
              <a:rPr lang="en-CA"/>
              <a:t>approach Rate in phase 1: The discrimination will be higher in the selective exposure condition than in the full exposure condition, where the group proportions are not equal</a:t>
            </a:r>
          </a:p>
          <a:p>
            <a:pPr marL="285750" indent="-285750">
              <a:buFont typeface="Arial" panose="020B0604020202020204" pitchFamily="34" charset="0"/>
              <a:buChar char="•"/>
            </a:pPr>
            <a:r>
              <a:rPr lang="en-CA"/>
              <a:t>Same for novel faces</a:t>
            </a:r>
          </a:p>
          <a:p>
            <a:pPr marL="285750" indent="-285750">
              <a:buFont typeface="Arial" panose="020B0604020202020204" pitchFamily="34" charset="0"/>
              <a:buChar char="•"/>
            </a:pPr>
            <a:r>
              <a:rPr lang="en-CA"/>
              <a:t>Mediated by discriminative ability of the group members</a:t>
            </a:r>
          </a:p>
          <a:p>
            <a:pPr marL="285750" indent="-285750">
              <a:buFont typeface="Arial" panose="020B0604020202020204" pitchFamily="34" charset="0"/>
              <a:buChar char="•"/>
            </a:pPr>
            <a:r>
              <a:rPr lang="en-CA"/>
              <a:t>Will be mediated by confidence </a:t>
            </a:r>
          </a:p>
          <a:p>
            <a:pPr marL="285750" indent="-285750">
              <a:buFont typeface="Arial" panose="020B0604020202020204" pitchFamily="34" charset="0"/>
              <a:buChar char="•"/>
            </a:pPr>
            <a:r>
              <a:rPr lang="en-CA"/>
              <a:t>Mediated by exposure amount / selection amount</a:t>
            </a:r>
          </a:p>
          <a:p>
            <a:pPr marL="285750" indent="-285750">
              <a:buFont typeface="Arial" panose="020B0604020202020204" pitchFamily="34" charset="0"/>
              <a:buChar char="•"/>
            </a:pPr>
            <a:endParaRPr lang="en-CA"/>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a:t>Total exposure amount may be correlated with the difference between true prob of </a:t>
            </a:r>
            <a:r>
              <a:rPr lang="en-CA" err="1"/>
              <a:t>punishmt</a:t>
            </a:r>
            <a:r>
              <a:rPr lang="en-CA"/>
              <a:t> </a:t>
            </a:r>
          </a:p>
          <a:p>
            <a:r>
              <a:rPr lang="en-CA"/>
              <a:t>Prob and reported prob (for group [novel generalization] and encountered faces) </a:t>
            </a:r>
          </a:p>
          <a:p>
            <a:pPr marL="285750" indent="-285750">
              <a:buFont typeface="Arial" panose="020B0604020202020204" pitchFamily="34" charset="0"/>
              <a:buChar char="•"/>
            </a:pPr>
            <a:r>
              <a:rPr lang="en-CA"/>
              <a:t>Compared to equal prop, full </a:t>
            </a:r>
          </a:p>
          <a:p>
            <a:pPr marL="285750" indent="-285750">
              <a:buFont typeface="Arial" panose="020B0604020202020204" pitchFamily="34" charset="0"/>
              <a:buChar char="•"/>
            </a:pPr>
            <a:r>
              <a:rPr lang="en-CA"/>
              <a:t>Selective exposure may even extremify the reported punishment prob</a:t>
            </a:r>
          </a:p>
          <a:p>
            <a:pPr marL="285750" indent="-285750">
              <a:buFont typeface="Arial" panose="020B0604020202020204" pitchFamily="34" charset="0"/>
              <a:buChar char="•"/>
            </a:pPr>
            <a:endParaRPr lang="en-CA"/>
          </a:p>
        </p:txBody>
      </p:sp>
    </p:spTree>
    <p:extLst>
      <p:ext uri="{BB962C8B-B14F-4D97-AF65-F5344CB8AC3E}">
        <p14:creationId xmlns:p14="http://schemas.microsoft.com/office/powerpoint/2010/main" val="1623901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977bae0-1053-428c-b12b-4cb672f7ff0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DEC2C146FA83D43B6876079796CB95F" ma:contentTypeVersion="13" ma:contentTypeDescription="Create a new document." ma:contentTypeScope="" ma:versionID="16489e913d961c2661855b84191505df">
  <xsd:schema xmlns:xsd="http://www.w3.org/2001/XMLSchema" xmlns:xs="http://www.w3.org/2001/XMLSchema" xmlns:p="http://schemas.microsoft.com/office/2006/metadata/properties" xmlns:ns3="e977bae0-1053-428c-b12b-4cb672f7ff0d" targetNamespace="http://schemas.microsoft.com/office/2006/metadata/properties" ma:root="true" ma:fieldsID="97da9837a0eda409576817e2b7423938" ns3:_="">
    <xsd:import namespace="e977bae0-1053-428c-b12b-4cb672f7ff0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_activity" minOccurs="0"/>
                <xsd:element ref="ns3:MediaServiceDateTaken" minOccurs="0"/>
                <xsd:element ref="ns3:MediaServiceObjectDetectorVersions"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77bae0-1053-428c-b12b-4cb672f7ff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_activity" ma:index="16" nillable="true" ma:displayName="_activity" ma:hidden="true" ma:internalName="_activity">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F2624F-850A-4C69-B5F2-4EA60471C4A9}">
  <ds:schemaRefs>
    <ds:schemaRef ds:uri="http://schemas.microsoft.com/office/2006/metadata/properties"/>
    <ds:schemaRef ds:uri="http://purl.org/dc/terms/"/>
    <ds:schemaRef ds:uri="http://schemas.microsoft.com/office/2006/documentManagement/types"/>
    <ds:schemaRef ds:uri="e977bae0-1053-428c-b12b-4cb672f7ff0d"/>
    <ds:schemaRef ds:uri="http://purl.org/dc/elements/1.1/"/>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80403B46-6040-4568-B9ED-1ABC16A0407C}">
  <ds:schemaRefs>
    <ds:schemaRef ds:uri="http://schemas.microsoft.com/sharepoint/v3/contenttype/forms"/>
  </ds:schemaRefs>
</ds:datastoreItem>
</file>

<file path=customXml/itemProps3.xml><?xml version="1.0" encoding="utf-8"?>
<ds:datastoreItem xmlns:ds="http://schemas.openxmlformats.org/officeDocument/2006/customXml" ds:itemID="{B84C6C09-6A3D-439B-BA67-0C5262648531}">
  <ds:schemaRefs>
    <ds:schemaRef ds:uri="e977bae0-1053-428c-b12b-4cb672f7ff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0</TotalTime>
  <Words>834</Words>
  <Application>Microsoft Office PowerPoint</Application>
  <PresentationFormat>Custom</PresentationFormat>
  <Paragraphs>78</Paragraphs>
  <Slides>23</Slides>
  <Notes>1</Notes>
  <HiddenSlides>7</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Aptos</vt:lpstr>
      <vt:lpstr>Aptos Display</vt:lpstr>
      <vt:lpstr>Arial</vt:lpstr>
      <vt:lpstr>Calibri</vt:lpstr>
      <vt:lpstr>Cambria Math</vt:lpstr>
      <vt:lpstr>Office Theme</vt:lpstr>
      <vt:lpstr>1_Office Theme</vt:lpstr>
      <vt:lpstr>Unequal Exposure and Stereotyping: Study 1 Design Overview</vt:lpstr>
      <vt:lpstr>Background &amp; Research Question</vt:lpstr>
      <vt:lpstr>Research 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Yikai Tang</dc:creator>
  <cp:lastModifiedBy>Yikai Tang</cp:lastModifiedBy>
  <cp:revision>2</cp:revision>
  <dcterms:created xsi:type="dcterms:W3CDTF">2006-08-16T00:00:00Z</dcterms:created>
  <dcterms:modified xsi:type="dcterms:W3CDTF">2026-05-12T19:04:32Z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0x010100EDEC2C146FA83D43B6876079796CB95F</vt:lpwstr>
  </property>
</Properties>
</file>